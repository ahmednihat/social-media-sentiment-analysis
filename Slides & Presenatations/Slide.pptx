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83" r:id="rId6"/>
    <p:sldId id="284" r:id="rId7"/>
    <p:sldId id="262" r:id="rId8"/>
    <p:sldId id="285" r:id="rId9"/>
    <p:sldId id="263" r:id="rId10"/>
    <p:sldId id="287" r:id="rId11"/>
    <p:sldId id="288" r:id="rId12"/>
    <p:sldId id="289" r:id="rId13"/>
    <p:sldId id="265" r:id="rId14"/>
    <p:sldId id="266" r:id="rId15"/>
    <p:sldId id="268" r:id="rId16"/>
    <p:sldId id="269" r:id="rId17"/>
    <p:sldId id="271" r:id="rId18"/>
    <p:sldId id="272" r:id="rId19"/>
    <p:sldId id="273" r:id="rId20"/>
    <p:sldId id="274" r:id="rId21"/>
    <p:sldId id="278" r:id="rId22"/>
    <p:sldId id="286" r:id="rId23"/>
    <p:sldId id="290" r:id="rId24"/>
    <p:sldId id="280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94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68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81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68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43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46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17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04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59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53712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99740" y="13306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Premier University, </a:t>
            </a:r>
            <a:r>
              <a:rPr lang="en-US" sz="3200" b="1" dirty="0" err="1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Chattogram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Department of Computer Science &amp; Engineering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75109" y="2159177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Comparative Study Of Transformers Based Models For Multilingual Sentiment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04926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13550" y="4005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Pragga Barua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04925" y="4297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1803510201668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13558" y="4626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KM Adnan Absar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13558" y="4919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0222210005101141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13558" y="52486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Ahmed Ullah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13558" y="55412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ID: 1903710201941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59344" y="3657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50723" y="40050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Avisheak Das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59343" y="426581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Lecturer, Dept. of CSE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Premier University, Chattogram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828800"/>
            <a:ext cx="1828800" cy="18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5B5DD4-D2DA-46B3-8361-11AAF2757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25641"/>
            <a:ext cx="1143000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969264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2461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117246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0" y="914400"/>
            <a:ext cx="109728" cy="969264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172461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14032" y="117246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Experimented Results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1911096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74320" y="2020824"/>
            <a:ext cx="109728" cy="9692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78885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" y="2278885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00800" y="2020824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00800" y="2020824"/>
            <a:ext cx="109728" cy="9692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278885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14032" y="2278885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74320" y="3127248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27248"/>
            <a:ext cx="109728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85309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87552" y="338530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437376" y="3099816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3127248"/>
            <a:ext cx="109728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385309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14032" y="338530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Research Constraints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400800" y="5340096"/>
            <a:ext cx="5669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: Why Multilingual Sentiment Analysis (English + Bangla)?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🌍  Global Reach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326483"/>
            <a:ext cx="5212080" cy="859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English is the most widely used global language, while Bangla is spoken by over 230M+ people across Bangladesh, West Bengal, and diaspora communities. Combining both enables broader and more inclusive language coverage.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275427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📱  Social Media Explosion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512825"/>
            <a:ext cx="5212080" cy="96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Millions of posts are generated daily in English and Bangla across platforms like Facebook, X (Twitter), Instagram, and YouTube, making multilingual sentiment analysis essential for real-world applications.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495627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 Business Applications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7975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require sentiment analysis tools to understand customer opinions, product feedback, and market trends across multiple languages, especially in bilingual regions.</a:t>
            </a:r>
          </a:p>
        </p:txBody>
      </p:sp>
      <p:sp>
        <p:nvSpPr>
          <p:cNvPr id="14" name="Shape 12"/>
          <p:cNvSpPr/>
          <p:nvPr/>
        </p:nvSpPr>
        <p:spPr>
          <a:xfrm>
            <a:off x="502920" y="4537456"/>
            <a:ext cx="5212080" cy="18288"/>
          </a:xfrm>
          <a:prstGeom prst="rect">
            <a:avLst/>
          </a:prstGeom>
          <a:solidFill>
            <a:srgbClr val="D4E0EE"/>
          </a:solidFill>
          <a:ln w="12700">
            <a:solidFill>
              <a:srgbClr val="D4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555233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🏛  Governance &amp; Policy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483001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and policymakers use multilingual opinion mining to analyze public sentiment, monitor reactions to policies, and detect misinformation across diverse populations.</a:t>
            </a:r>
          </a:p>
        </p:txBody>
      </p:sp>
      <p:sp>
        <p:nvSpPr>
          <p:cNvPr id="17" name="Shape 15"/>
          <p:cNvSpPr/>
          <p:nvPr/>
        </p:nvSpPr>
        <p:spPr>
          <a:xfrm>
            <a:off x="6263640" y="914400"/>
            <a:ext cx="5623560" cy="5212080"/>
          </a:xfrm>
          <a:prstGeom prst="rect">
            <a:avLst/>
          </a:prstGeom>
          <a:solidFill>
            <a:srgbClr val="1A2535"/>
          </a:solidFill>
          <a:ln w="190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024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NLP Landscape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1554480"/>
            <a:ext cx="5166360" cy="713232"/>
          </a:xfrm>
          <a:prstGeom prst="rect">
            <a:avLst/>
          </a:prstGeom>
          <a:solidFill>
            <a:srgbClr val="0D1B2E"/>
          </a:solidFill>
          <a:ln w="12700">
            <a:solidFill>
              <a:srgbClr val="2434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37960" y="160934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#7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92440" y="16276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 dominates globally, while Bangla ranks among the most spoken languages worldwide</a:t>
            </a:r>
          </a:p>
        </p:txBody>
      </p:sp>
      <p:sp>
        <p:nvSpPr>
          <p:cNvPr id="22" name="Shape 20"/>
          <p:cNvSpPr/>
          <p:nvPr/>
        </p:nvSpPr>
        <p:spPr>
          <a:xfrm>
            <a:off x="6492240" y="2468880"/>
            <a:ext cx="5166360" cy="713232"/>
          </a:xfrm>
          <a:prstGeom prst="rect">
            <a:avLst/>
          </a:prstGeom>
          <a:solidFill>
            <a:srgbClr val="0D1B2E"/>
          </a:solidFill>
          <a:ln w="12700">
            <a:solidFill>
              <a:srgbClr val="243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52374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2.3%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92440" y="25420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world's population speaks Bangla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92240" y="3383280"/>
            <a:ext cx="5166360" cy="713232"/>
          </a:xfrm>
          <a:prstGeom prst="rect">
            <a:avLst/>
          </a:prstGeom>
          <a:solidFill>
            <a:srgbClr val="0D1B2E"/>
          </a:solidFill>
          <a:ln w="12700">
            <a:solidFill>
              <a:srgbClr val="243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43814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170M+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92440" y="34564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Internet users in Bangladesh (2024)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92240" y="4297680"/>
            <a:ext cx="5166360" cy="713232"/>
          </a:xfrm>
          <a:prstGeom prst="rect">
            <a:avLst/>
          </a:prstGeom>
          <a:solidFill>
            <a:srgbClr val="0D1B2E"/>
          </a:solidFill>
          <a:ln w="12700">
            <a:solidFill>
              <a:srgbClr val="2434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35254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~5K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92440" y="43708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 NLP research papers vs. ~200K English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92240" y="5212080"/>
            <a:ext cx="5166360" cy="713232"/>
          </a:xfrm>
          <a:prstGeom prst="rect">
            <a:avLst/>
          </a:prstGeom>
          <a:solidFill>
            <a:srgbClr val="0D1B2E"/>
          </a:solidFill>
          <a:ln w="12700">
            <a:solidFill>
              <a:srgbClr val="2434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26694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&lt; 50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92440" y="52852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Publicly available Bangla sentiment datasets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(Cont.) : Challenges in Multilingual NLP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8221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82219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149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Code-Mixing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frequently mix English and Bangla within the same sentence (e.g</a:t>
            </a:r>
            <a:r>
              <a:rPr lang="en-US" sz="1400" dirty="0">
                <a:solidFill>
                  <a:srgbClr val="1A2535"/>
                </a:solidFill>
                <a:latin typeface="Kalpurush" panose="02000600000000000000" pitchFamily="2" charset="0"/>
                <a:ea typeface="Calibri" pitchFamily="34" charset="-122"/>
                <a:cs typeface="Kalpurush" panose="02000600000000000000" pitchFamily="2" charset="0"/>
              </a:rPr>
              <a:t>., “</a:t>
            </a:r>
            <a:r>
              <a:rPr lang="en-US" sz="1400" dirty="0" err="1">
                <a:solidFill>
                  <a:srgbClr val="1A2535"/>
                </a:solidFill>
                <a:latin typeface="Kalpurush" panose="02000600000000000000" pitchFamily="2" charset="0"/>
                <a:ea typeface="Calibri" pitchFamily="34" charset="-122"/>
                <a:cs typeface="Kalpurush" panose="02000600000000000000" pitchFamily="2" charset="0"/>
              </a:rPr>
              <a:t>আমি</a:t>
            </a:r>
            <a:r>
              <a:rPr lang="en-US" sz="1400" dirty="0">
                <a:solidFill>
                  <a:srgbClr val="1A2535"/>
                </a:solidFill>
                <a:latin typeface="Kalpurush" panose="02000600000000000000" pitchFamily="2" charset="0"/>
                <a:ea typeface="Calibri" pitchFamily="34" charset="-122"/>
                <a:cs typeface="Kalpurush" panose="02000600000000000000" pitchFamily="2" charset="0"/>
              </a:rPr>
              <a:t> </a:t>
            </a:r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today office </a:t>
            </a:r>
            <a:r>
              <a:rPr lang="en-US" sz="1400" dirty="0" err="1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গেলাম</a:t>
            </a:r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”). This mixed-script and mixed-language structure makes tokenization and language modeling significantly more difficult..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960120"/>
            <a:ext cx="38221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9392" y="960120"/>
            <a:ext cx="382219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0149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🧬  Morphological Complexity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16552" y="1490472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 has rich inflectional morphology, where a single root word can produce many variations. This creates challenges in vocabulary coverage and generalization, especially in multilingual settings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4464" y="960120"/>
            <a:ext cx="38221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960120"/>
            <a:ext cx="38221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0149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😏  Sarcasm &amp; Irony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1490472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Understanding sarcasm across languages is difficult. Sentences may appear positive literally but convey negative sentiment (e.g., “Great job!” used sarcastically or “</a:t>
            </a:r>
            <a:r>
              <a:rPr lang="en-US" sz="1400" dirty="0" err="1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অসাধারণ</a:t>
            </a:r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!” in irony). This requires contextual and cultural understanding.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172968"/>
            <a:ext cx="38221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72968"/>
            <a:ext cx="3822192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😂  Emoji &amp; Informal Language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 media text in both languages is highly noisy, including emojis, slang, abbreviations, phonetic spellings, and Romanized Bangla, which traditional NLP models struggle to interpret accurately.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79392" y="3172968"/>
            <a:ext cx="38221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79392" y="3172968"/>
            <a:ext cx="3822192" cy="4572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32278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🗃  Scarce Annotated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16552" y="3703320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While English has abundant labeled datasets, Bangla datasets remain limited (&lt;50 publicly available) and are often small or domain-specific, creating imbalance in multilingual training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26442" y="3172968"/>
            <a:ext cx="38221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84464" y="3172968"/>
            <a:ext cx="382219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32278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⚖  Class Imbalance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603735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Sentiment datasets often suffer from imbalance (e.g., fewer neutral samples), leading to biased predictions. Proper techniques like class weighting, resampling are necessary.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>
            <a:extLst>
              <a:ext uri="{FF2B5EF4-FFF2-40B4-BE49-F238E27FC236}">
                <a16:creationId xmlns:a16="http://schemas.microsoft.com/office/drawing/2014/main" id="{CC1CEA0C-0E7B-4F08-8F65-84DDA72B38FE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7" name="Shape 1">
            <a:extLst>
              <a:ext uri="{FF2B5EF4-FFF2-40B4-BE49-F238E27FC236}">
                <a16:creationId xmlns:a16="http://schemas.microsoft.com/office/drawing/2014/main" id="{B60A6A7B-1817-425C-9DB9-E06B4894E1CC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79D03A9F-EEFA-4C27-979F-303A1E157442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(Cont.): Research Objectives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3">
            <a:extLst>
              <a:ext uri="{FF2B5EF4-FFF2-40B4-BE49-F238E27FC236}">
                <a16:creationId xmlns:a16="http://schemas.microsoft.com/office/drawing/2014/main" id="{AC7DD6FA-0D72-4079-A051-555625CABB27}"/>
              </a:ext>
            </a:extLst>
          </p:cNvPr>
          <p:cNvSpPr/>
          <p:nvPr/>
        </p:nvSpPr>
        <p:spPr>
          <a:xfrm>
            <a:off x="253999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This Research Sets Out to Achieve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4">
            <a:extLst>
              <a:ext uri="{FF2B5EF4-FFF2-40B4-BE49-F238E27FC236}">
                <a16:creationId xmlns:a16="http://schemas.microsoft.com/office/drawing/2014/main" id="{4990203C-DEC1-4737-AA81-4DC18A249677}"/>
              </a:ext>
            </a:extLst>
          </p:cNvPr>
          <p:cNvSpPr/>
          <p:nvPr/>
        </p:nvSpPr>
        <p:spPr>
          <a:xfrm>
            <a:off x="274320" y="1325880"/>
            <a:ext cx="11612880" cy="91440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5">
            <a:extLst>
              <a:ext uri="{FF2B5EF4-FFF2-40B4-BE49-F238E27FC236}">
                <a16:creationId xmlns:a16="http://schemas.microsoft.com/office/drawing/2014/main" id="{A243CF04-4F50-4174-8F30-5E469E4CD3F3}"/>
              </a:ext>
            </a:extLst>
          </p:cNvPr>
          <p:cNvSpPr/>
          <p:nvPr/>
        </p:nvSpPr>
        <p:spPr>
          <a:xfrm>
            <a:off x="274320" y="1325880"/>
            <a:ext cx="777240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2" name="Text 6">
            <a:extLst>
              <a:ext uri="{FF2B5EF4-FFF2-40B4-BE49-F238E27FC236}">
                <a16:creationId xmlns:a16="http://schemas.microsoft.com/office/drawing/2014/main" id="{137C7032-AC6F-4E6F-A42D-F7C103F32610}"/>
              </a:ext>
            </a:extLst>
          </p:cNvPr>
          <p:cNvSpPr/>
          <p:nvPr/>
        </p:nvSpPr>
        <p:spPr>
          <a:xfrm>
            <a:off x="274320" y="132588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7">
            <a:extLst>
              <a:ext uri="{FF2B5EF4-FFF2-40B4-BE49-F238E27FC236}">
                <a16:creationId xmlns:a16="http://schemas.microsoft.com/office/drawing/2014/main" id="{1911B5D6-8F11-416A-945A-DADDA87E2055}"/>
              </a:ext>
            </a:extLst>
          </p:cNvPr>
          <p:cNvSpPr/>
          <p:nvPr/>
        </p:nvSpPr>
        <p:spPr>
          <a:xfrm>
            <a:off x="1207008" y="1380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Build a Multilingual Sentiment Dataset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C72C3D9C-F16F-4BDF-8C5F-0BB1B185C212}"/>
              </a:ext>
            </a:extLst>
          </p:cNvPr>
          <p:cNvSpPr/>
          <p:nvPr/>
        </p:nvSpPr>
        <p:spPr>
          <a:xfrm>
            <a:off x="1207008" y="1764792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Curate and preprocess 12,000+ social media posts in both English and Bangla, labeled as Positive, Negative, and Neutral. Use a combination of machine translation and manual verification to ensure quality and consistency across languages.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9">
            <a:extLst>
              <a:ext uri="{FF2B5EF4-FFF2-40B4-BE49-F238E27FC236}">
                <a16:creationId xmlns:a16="http://schemas.microsoft.com/office/drawing/2014/main" id="{DC6E9FCF-D7EE-4ECF-AF87-4A9F37CBCD2D}"/>
              </a:ext>
            </a:extLst>
          </p:cNvPr>
          <p:cNvSpPr/>
          <p:nvPr/>
        </p:nvSpPr>
        <p:spPr>
          <a:xfrm>
            <a:off x="274320" y="2386584"/>
            <a:ext cx="11612880" cy="914400"/>
          </a:xfrm>
          <a:prstGeom prst="rect">
            <a:avLst/>
          </a:prstGeom>
          <a:solidFill>
            <a:srgbClr val="1A2535"/>
          </a:solidFill>
          <a:ln w="190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Shape 10">
            <a:extLst>
              <a:ext uri="{FF2B5EF4-FFF2-40B4-BE49-F238E27FC236}">
                <a16:creationId xmlns:a16="http://schemas.microsoft.com/office/drawing/2014/main" id="{8758D201-85C8-4A9F-AFEE-18E591330155}"/>
              </a:ext>
            </a:extLst>
          </p:cNvPr>
          <p:cNvSpPr/>
          <p:nvPr/>
        </p:nvSpPr>
        <p:spPr>
          <a:xfrm>
            <a:off x="274320" y="2386584"/>
            <a:ext cx="777240" cy="9144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58C1315C-2DF5-4388-86D7-16274E409EEE}"/>
              </a:ext>
            </a:extLst>
          </p:cNvPr>
          <p:cNvSpPr/>
          <p:nvPr/>
        </p:nvSpPr>
        <p:spPr>
          <a:xfrm>
            <a:off x="274320" y="2386584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7213ED9F-C7FA-4945-B531-EB980FECF3A6}"/>
              </a:ext>
            </a:extLst>
          </p:cNvPr>
          <p:cNvSpPr/>
          <p:nvPr/>
        </p:nvSpPr>
        <p:spPr>
          <a:xfrm>
            <a:off x="1207008" y="2441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LSTM &amp; BiLSTM Baselines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A28E5FCB-5C31-4D4C-9821-D79DD577E327}"/>
              </a:ext>
            </a:extLst>
          </p:cNvPr>
          <p:cNvSpPr/>
          <p:nvPr/>
        </p:nvSpPr>
        <p:spPr>
          <a:xfrm>
            <a:off x="1207008" y="282549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Design, train, and evaluate word-embedding-based LSTM and Bidirectional LSTM classifiers as strong sequential baselines on the Bangla dataset.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Shape 14">
            <a:extLst>
              <a:ext uri="{FF2B5EF4-FFF2-40B4-BE49-F238E27FC236}">
                <a16:creationId xmlns:a16="http://schemas.microsoft.com/office/drawing/2014/main" id="{B7086B08-EE5A-40EA-BE2D-131C280943A3}"/>
              </a:ext>
            </a:extLst>
          </p:cNvPr>
          <p:cNvSpPr/>
          <p:nvPr/>
        </p:nvSpPr>
        <p:spPr>
          <a:xfrm>
            <a:off x="274320" y="3447288"/>
            <a:ext cx="11612880" cy="914400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1" name="Shape 15">
            <a:extLst>
              <a:ext uri="{FF2B5EF4-FFF2-40B4-BE49-F238E27FC236}">
                <a16:creationId xmlns:a16="http://schemas.microsoft.com/office/drawing/2014/main" id="{1E19304B-9455-4BCD-B1AA-B20726E37F8D}"/>
              </a:ext>
            </a:extLst>
          </p:cNvPr>
          <p:cNvSpPr/>
          <p:nvPr/>
        </p:nvSpPr>
        <p:spPr>
          <a:xfrm>
            <a:off x="274320" y="3447288"/>
            <a:ext cx="7772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FFCADC0C-5FDC-4ED3-BDD4-272EF2C0D60C}"/>
              </a:ext>
            </a:extLst>
          </p:cNvPr>
          <p:cNvSpPr/>
          <p:nvPr/>
        </p:nvSpPr>
        <p:spPr>
          <a:xfrm>
            <a:off x="274320" y="3447288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 17">
            <a:extLst>
              <a:ext uri="{FF2B5EF4-FFF2-40B4-BE49-F238E27FC236}">
                <a16:creationId xmlns:a16="http://schemas.microsoft.com/office/drawing/2014/main" id="{EE94B51D-5DCA-4E57-B23C-F84298037793}"/>
              </a:ext>
            </a:extLst>
          </p:cNvPr>
          <p:cNvSpPr/>
          <p:nvPr/>
        </p:nvSpPr>
        <p:spPr>
          <a:xfrm>
            <a:off x="1207008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a Hybrid BERT+BiLSTM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18">
            <a:extLst>
              <a:ext uri="{FF2B5EF4-FFF2-40B4-BE49-F238E27FC236}">
                <a16:creationId xmlns:a16="http://schemas.microsoft.com/office/drawing/2014/main" id="{59A43DB7-7CFE-447D-9067-E978F8F16F3C}"/>
              </a:ext>
            </a:extLst>
          </p:cNvPr>
          <p:cNvSpPr/>
          <p:nvPr/>
        </p:nvSpPr>
        <p:spPr>
          <a:xfrm>
            <a:off x="1207008" y="388620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 contextual embeddings from Bangla-BERT with sequential modeling of BiLSTM to build a novel hybrid architecture that outperforms individual models.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hape 19">
            <a:extLst>
              <a:ext uri="{FF2B5EF4-FFF2-40B4-BE49-F238E27FC236}">
                <a16:creationId xmlns:a16="http://schemas.microsoft.com/office/drawing/2014/main" id="{026DFE44-EAF6-42BB-A264-7A83BF7396F5}"/>
              </a:ext>
            </a:extLst>
          </p:cNvPr>
          <p:cNvSpPr/>
          <p:nvPr/>
        </p:nvSpPr>
        <p:spPr>
          <a:xfrm>
            <a:off x="274320" y="4507992"/>
            <a:ext cx="11612880" cy="91440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6" name="Shape 20">
            <a:extLst>
              <a:ext uri="{FF2B5EF4-FFF2-40B4-BE49-F238E27FC236}">
                <a16:creationId xmlns:a16="http://schemas.microsoft.com/office/drawing/2014/main" id="{E62A18FC-7288-4592-8E05-70B8D7A873A0}"/>
              </a:ext>
            </a:extLst>
          </p:cNvPr>
          <p:cNvSpPr/>
          <p:nvPr/>
        </p:nvSpPr>
        <p:spPr>
          <a:xfrm>
            <a:off x="274320" y="4507992"/>
            <a:ext cx="7772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7" name="Text 21">
            <a:extLst>
              <a:ext uri="{FF2B5EF4-FFF2-40B4-BE49-F238E27FC236}">
                <a16:creationId xmlns:a16="http://schemas.microsoft.com/office/drawing/2014/main" id="{113C1C0C-F176-4F7B-8BA8-AAD552FC63D5}"/>
              </a:ext>
            </a:extLst>
          </p:cNvPr>
          <p:cNvSpPr/>
          <p:nvPr/>
        </p:nvSpPr>
        <p:spPr>
          <a:xfrm>
            <a:off x="274320" y="4507992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22">
            <a:extLst>
              <a:ext uri="{FF2B5EF4-FFF2-40B4-BE49-F238E27FC236}">
                <a16:creationId xmlns:a16="http://schemas.microsoft.com/office/drawing/2014/main" id="{0333BE17-C0E4-4808-8A3D-8518C4082C01}"/>
              </a:ext>
            </a:extLst>
          </p:cNvPr>
          <p:cNvSpPr/>
          <p:nvPr/>
        </p:nvSpPr>
        <p:spPr>
          <a:xfrm>
            <a:off x="1207008" y="4562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Rigorous Comparative Evaluation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23">
            <a:extLst>
              <a:ext uri="{FF2B5EF4-FFF2-40B4-BE49-F238E27FC236}">
                <a16:creationId xmlns:a16="http://schemas.microsoft.com/office/drawing/2014/main" id="{8101E07D-A281-4068-A3A9-8D580A5DFEE4}"/>
              </a:ext>
            </a:extLst>
          </p:cNvPr>
          <p:cNvSpPr/>
          <p:nvPr/>
        </p:nvSpPr>
        <p:spPr>
          <a:xfrm>
            <a:off x="1207008" y="494690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all models using accuracy, precision, recall, Macro F1-score, and Matthews Correlation Coefficient (MCC) to ensure fair comparison under class imbalance.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hape 24">
            <a:extLst>
              <a:ext uri="{FF2B5EF4-FFF2-40B4-BE49-F238E27FC236}">
                <a16:creationId xmlns:a16="http://schemas.microsoft.com/office/drawing/2014/main" id="{C8A14D03-D53F-4337-8B20-5377FD925E28}"/>
              </a:ext>
            </a:extLst>
          </p:cNvPr>
          <p:cNvSpPr/>
          <p:nvPr/>
        </p:nvSpPr>
        <p:spPr>
          <a:xfrm>
            <a:off x="274320" y="5568696"/>
            <a:ext cx="11612880" cy="91440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1" name="Shape 25">
            <a:extLst>
              <a:ext uri="{FF2B5EF4-FFF2-40B4-BE49-F238E27FC236}">
                <a16:creationId xmlns:a16="http://schemas.microsoft.com/office/drawing/2014/main" id="{5B5241A1-E766-4D3C-8CB1-8FBCB66DEB52}"/>
              </a:ext>
            </a:extLst>
          </p:cNvPr>
          <p:cNvSpPr/>
          <p:nvPr/>
        </p:nvSpPr>
        <p:spPr>
          <a:xfrm>
            <a:off x="274320" y="5568696"/>
            <a:ext cx="7772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2" name="Text 26">
            <a:extLst>
              <a:ext uri="{FF2B5EF4-FFF2-40B4-BE49-F238E27FC236}">
                <a16:creationId xmlns:a16="http://schemas.microsoft.com/office/drawing/2014/main" id="{0FB0BE1D-0438-48C1-BBDF-07314C6D9963}"/>
              </a:ext>
            </a:extLst>
          </p:cNvPr>
          <p:cNvSpPr/>
          <p:nvPr/>
        </p:nvSpPr>
        <p:spPr>
          <a:xfrm>
            <a:off x="274320" y="5568696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 27">
            <a:extLst>
              <a:ext uri="{FF2B5EF4-FFF2-40B4-BE49-F238E27FC236}">
                <a16:creationId xmlns:a16="http://schemas.microsoft.com/office/drawing/2014/main" id="{72DFF046-C97A-4292-93A2-D208F8C5DBAF}"/>
              </a:ext>
            </a:extLst>
          </p:cNvPr>
          <p:cNvSpPr/>
          <p:nvPr/>
        </p:nvSpPr>
        <p:spPr>
          <a:xfrm>
            <a:off x="1207008" y="5623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Establish a Multilingual Research Baseline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28">
            <a:extLst>
              <a:ext uri="{FF2B5EF4-FFF2-40B4-BE49-F238E27FC236}">
                <a16:creationId xmlns:a16="http://schemas.microsoft.com/office/drawing/2014/main" id="{FCECB5BF-9A59-4018-AC87-459332A1F6E1}"/>
              </a:ext>
            </a:extLst>
          </p:cNvPr>
          <p:cNvSpPr/>
          <p:nvPr/>
        </p:nvSpPr>
        <p:spPr>
          <a:xfrm>
            <a:off x="1207008" y="600760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reusable, open benchmarks for the Bangla NLP community to build upon, advancing low-resource language technology for one of the world's largest language communities.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76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>
            <a:extLst>
              <a:ext uri="{FF2B5EF4-FFF2-40B4-BE49-F238E27FC236}">
                <a16:creationId xmlns:a16="http://schemas.microsoft.com/office/drawing/2014/main" id="{9F5B968A-99D9-4EC8-8ACE-D472E3E75C5B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7" name="Shape 1">
            <a:extLst>
              <a:ext uri="{FF2B5EF4-FFF2-40B4-BE49-F238E27FC236}">
                <a16:creationId xmlns:a16="http://schemas.microsoft.com/office/drawing/2014/main" id="{384CE9C0-C84F-447C-91E9-1B46FC178313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5DBD7EB9-1FC0-4C3B-9D72-F28DC6C86D4A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(Cont.): Research Contributions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3">
            <a:extLst>
              <a:ext uri="{FF2B5EF4-FFF2-40B4-BE49-F238E27FC236}">
                <a16:creationId xmlns:a16="http://schemas.microsoft.com/office/drawing/2014/main" id="{EC3EE574-856F-44FC-A32C-F4FDAD4F085C}"/>
              </a:ext>
            </a:extLst>
          </p:cNvPr>
          <p:cNvSpPr/>
          <p:nvPr/>
        </p:nvSpPr>
        <p:spPr>
          <a:xfrm>
            <a:off x="274320" y="914400"/>
            <a:ext cx="11612880" cy="1024128"/>
          </a:xfrm>
          <a:prstGeom prst="rect">
            <a:avLst/>
          </a:prstGeom>
          <a:solidFill>
            <a:srgbClr val="1A2535"/>
          </a:solidFill>
          <a:ln w="1905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EC1A077C-1FD2-42ED-97EB-B7D7A7506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24128"/>
            <a:ext cx="621792" cy="621792"/>
          </a:xfrm>
          <a:prstGeom prst="rect">
            <a:avLst/>
          </a:prstGeom>
        </p:spPr>
      </p:pic>
      <p:sp>
        <p:nvSpPr>
          <p:cNvPr id="81" name="Shape 4">
            <a:extLst>
              <a:ext uri="{FF2B5EF4-FFF2-40B4-BE49-F238E27FC236}">
                <a16:creationId xmlns:a16="http://schemas.microsoft.com/office/drawing/2014/main" id="{CAA5B2DE-E2C0-4E18-9E34-8757A2355F2E}"/>
              </a:ext>
            </a:extLst>
          </p:cNvPr>
          <p:cNvSpPr/>
          <p:nvPr/>
        </p:nvSpPr>
        <p:spPr>
          <a:xfrm>
            <a:off x="1078992" y="914400"/>
            <a:ext cx="713232" cy="10241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024F0ACB-429E-4223-9962-A53FFDFFD89D}"/>
              </a:ext>
            </a:extLst>
          </p:cNvPr>
          <p:cNvSpPr/>
          <p:nvPr/>
        </p:nvSpPr>
        <p:spPr>
          <a:xfrm>
            <a:off x="1078992" y="914400"/>
            <a:ext cx="713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5FE9139A-F49D-4493-8C26-BAF28F7FE5C5}"/>
              </a:ext>
            </a:extLst>
          </p:cNvPr>
          <p:cNvSpPr/>
          <p:nvPr/>
        </p:nvSpPr>
        <p:spPr>
          <a:xfrm>
            <a:off x="1938528" y="98755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Social Media Sentiment Dataset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EE2314B6-50B6-4FE3-9F54-8A5E9C40D9BB}"/>
              </a:ext>
            </a:extLst>
          </p:cNvPr>
          <p:cNvSpPr/>
          <p:nvPr/>
        </p:nvSpPr>
        <p:spPr>
          <a:xfrm>
            <a:off x="1938528" y="13258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Curated and preprocessed a 12,000+ post multilingual dataset (English + Bangla) from social media, labeled into Positive, Negative, and Neutral classes. Applied class balancing techniques, especially to address the underrepresented Neutral category.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8716025F-E052-4F6E-926A-563515824068}"/>
              </a:ext>
            </a:extLst>
          </p:cNvPr>
          <p:cNvSpPr/>
          <p:nvPr/>
        </p:nvSpPr>
        <p:spPr>
          <a:xfrm>
            <a:off x="274320" y="2084832"/>
            <a:ext cx="11612880" cy="1024128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6" name="Image 1" descr="preencoded.png">
            <a:extLst>
              <a:ext uri="{FF2B5EF4-FFF2-40B4-BE49-F238E27FC236}">
                <a16:creationId xmlns:a16="http://schemas.microsoft.com/office/drawing/2014/main" id="{67ADAB7C-E467-44A7-B0CF-919D5BD0F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194560"/>
            <a:ext cx="621792" cy="621792"/>
          </a:xfrm>
          <a:prstGeom prst="rect">
            <a:avLst/>
          </a:prstGeom>
        </p:spPr>
      </p:pic>
      <p:sp>
        <p:nvSpPr>
          <p:cNvPr id="87" name="Shape 9">
            <a:extLst>
              <a:ext uri="{FF2B5EF4-FFF2-40B4-BE49-F238E27FC236}">
                <a16:creationId xmlns:a16="http://schemas.microsoft.com/office/drawing/2014/main" id="{992BAEC1-FB0C-4672-8C04-077270083F8F}"/>
              </a:ext>
            </a:extLst>
          </p:cNvPr>
          <p:cNvSpPr/>
          <p:nvPr/>
        </p:nvSpPr>
        <p:spPr>
          <a:xfrm>
            <a:off x="1078992" y="2084832"/>
            <a:ext cx="71323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Text 10">
            <a:extLst>
              <a:ext uri="{FF2B5EF4-FFF2-40B4-BE49-F238E27FC236}">
                <a16:creationId xmlns:a16="http://schemas.microsoft.com/office/drawing/2014/main" id="{D73B71FD-8E5C-4B14-9725-BCFE2ED480B2}"/>
              </a:ext>
            </a:extLst>
          </p:cNvPr>
          <p:cNvSpPr/>
          <p:nvPr/>
        </p:nvSpPr>
        <p:spPr>
          <a:xfrm>
            <a:off x="1078992" y="2084832"/>
            <a:ext cx="713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A2A9E5BF-188E-4031-BACC-F2F1355591F4}"/>
              </a:ext>
            </a:extLst>
          </p:cNvPr>
          <p:cNvSpPr/>
          <p:nvPr/>
        </p:nvSpPr>
        <p:spPr>
          <a:xfrm>
            <a:off x="1938528" y="215798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Robust Preprocessing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12">
            <a:extLst>
              <a:ext uri="{FF2B5EF4-FFF2-40B4-BE49-F238E27FC236}">
                <a16:creationId xmlns:a16="http://schemas.microsoft.com/office/drawing/2014/main" id="{4FFBF0D8-54A1-4372-971E-08DB079A728C}"/>
              </a:ext>
            </a:extLst>
          </p:cNvPr>
          <p:cNvSpPr/>
          <p:nvPr/>
        </p:nvSpPr>
        <p:spPr>
          <a:xfrm>
            <a:off x="1938528" y="249631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Designed a generalizable Bangla text normalization pipeline handling Unicode NFKC normalization, Bangla script filtering, URL/mention removal, emoji handling, and code-mixed text - usable by future multilingual NLP researchers.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13">
            <a:extLst>
              <a:ext uri="{FF2B5EF4-FFF2-40B4-BE49-F238E27FC236}">
                <a16:creationId xmlns:a16="http://schemas.microsoft.com/office/drawing/2014/main" id="{EFCC06E2-6091-4787-9C1F-BC0001F97956}"/>
              </a:ext>
            </a:extLst>
          </p:cNvPr>
          <p:cNvSpPr/>
          <p:nvPr/>
        </p:nvSpPr>
        <p:spPr>
          <a:xfrm>
            <a:off x="274320" y="3255264"/>
            <a:ext cx="11612880" cy="1024128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2" name="Image 2" descr="preencoded.png">
            <a:extLst>
              <a:ext uri="{FF2B5EF4-FFF2-40B4-BE49-F238E27FC236}">
                <a16:creationId xmlns:a16="http://schemas.microsoft.com/office/drawing/2014/main" id="{A33FC342-2867-4259-8090-C9A7BE246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364992"/>
            <a:ext cx="621792" cy="621792"/>
          </a:xfrm>
          <a:prstGeom prst="rect">
            <a:avLst/>
          </a:prstGeom>
        </p:spPr>
      </p:pic>
      <p:sp>
        <p:nvSpPr>
          <p:cNvPr id="93" name="Shape 14">
            <a:extLst>
              <a:ext uri="{FF2B5EF4-FFF2-40B4-BE49-F238E27FC236}">
                <a16:creationId xmlns:a16="http://schemas.microsoft.com/office/drawing/2014/main" id="{F20C6848-FB0B-425B-934C-A0B897CF6052}"/>
              </a:ext>
            </a:extLst>
          </p:cNvPr>
          <p:cNvSpPr/>
          <p:nvPr/>
        </p:nvSpPr>
        <p:spPr>
          <a:xfrm>
            <a:off x="1078992" y="3255264"/>
            <a:ext cx="713232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DA77A2BA-AF67-42B6-9979-3F1D25A1B08C}"/>
              </a:ext>
            </a:extLst>
          </p:cNvPr>
          <p:cNvSpPr/>
          <p:nvPr/>
        </p:nvSpPr>
        <p:spPr>
          <a:xfrm>
            <a:off x="1078992" y="3255264"/>
            <a:ext cx="713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16">
            <a:extLst>
              <a:ext uri="{FF2B5EF4-FFF2-40B4-BE49-F238E27FC236}">
                <a16:creationId xmlns:a16="http://schemas.microsoft.com/office/drawing/2014/main" id="{9B840FB1-851A-4BAD-9D74-EF62C22DCB3D}"/>
              </a:ext>
            </a:extLst>
          </p:cNvPr>
          <p:cNvSpPr/>
          <p:nvPr/>
        </p:nvSpPr>
        <p:spPr>
          <a:xfrm>
            <a:off x="1938528" y="332841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Novel BERT+BiLSTM Hybrid 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17">
            <a:extLst>
              <a:ext uri="{FF2B5EF4-FFF2-40B4-BE49-F238E27FC236}">
                <a16:creationId xmlns:a16="http://schemas.microsoft.com/office/drawing/2014/main" id="{D30117EB-C274-4E4C-9E49-B4849A767EB8}"/>
              </a:ext>
            </a:extLst>
          </p:cNvPr>
          <p:cNvSpPr/>
          <p:nvPr/>
        </p:nvSpPr>
        <p:spPr>
          <a:xfrm>
            <a:off x="1938528" y="3666744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and validated a novel hybrid model combining Bangla-BERT contextual embeddings with Bidirectional LSTM sequential modeling using differential learning rates and AdamW optimizer with warmup.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Shape 18">
            <a:extLst>
              <a:ext uri="{FF2B5EF4-FFF2-40B4-BE49-F238E27FC236}">
                <a16:creationId xmlns:a16="http://schemas.microsoft.com/office/drawing/2014/main" id="{621D3FC4-C9B5-4FB0-B1EA-10E95D2F2FA8}"/>
              </a:ext>
            </a:extLst>
          </p:cNvPr>
          <p:cNvSpPr/>
          <p:nvPr/>
        </p:nvSpPr>
        <p:spPr>
          <a:xfrm>
            <a:off x="274320" y="4425696"/>
            <a:ext cx="11612880" cy="1024128"/>
          </a:xfrm>
          <a:prstGeom prst="rect">
            <a:avLst/>
          </a:prstGeom>
          <a:solidFill>
            <a:srgbClr val="1A2535"/>
          </a:solidFill>
          <a:ln w="190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8" name="Image 3" descr="preencoded.png">
            <a:extLst>
              <a:ext uri="{FF2B5EF4-FFF2-40B4-BE49-F238E27FC236}">
                <a16:creationId xmlns:a16="http://schemas.microsoft.com/office/drawing/2014/main" id="{08845378-4DA8-43BA-81F0-DF7010EC0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535424"/>
            <a:ext cx="621792" cy="621792"/>
          </a:xfrm>
          <a:prstGeom prst="rect">
            <a:avLst/>
          </a:prstGeom>
        </p:spPr>
      </p:pic>
      <p:sp>
        <p:nvSpPr>
          <p:cNvPr id="99" name="Shape 19">
            <a:extLst>
              <a:ext uri="{FF2B5EF4-FFF2-40B4-BE49-F238E27FC236}">
                <a16:creationId xmlns:a16="http://schemas.microsoft.com/office/drawing/2014/main" id="{54C979FB-F562-4EA3-B501-3C81B3350466}"/>
              </a:ext>
            </a:extLst>
          </p:cNvPr>
          <p:cNvSpPr/>
          <p:nvPr/>
        </p:nvSpPr>
        <p:spPr>
          <a:xfrm>
            <a:off x="1078992" y="4425696"/>
            <a:ext cx="713232" cy="102412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00" name="Text 20">
            <a:extLst>
              <a:ext uri="{FF2B5EF4-FFF2-40B4-BE49-F238E27FC236}">
                <a16:creationId xmlns:a16="http://schemas.microsoft.com/office/drawing/2014/main" id="{15E370A1-CDCD-46B7-826C-6204ADAD8CAF}"/>
              </a:ext>
            </a:extLst>
          </p:cNvPr>
          <p:cNvSpPr/>
          <p:nvPr/>
        </p:nvSpPr>
        <p:spPr>
          <a:xfrm>
            <a:off x="1078992" y="4425696"/>
            <a:ext cx="713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 21">
            <a:extLst>
              <a:ext uri="{FF2B5EF4-FFF2-40B4-BE49-F238E27FC236}">
                <a16:creationId xmlns:a16="http://schemas.microsoft.com/office/drawing/2014/main" id="{31D17FA2-B1FB-46BE-B2FD-3D2CDE194A02}"/>
              </a:ext>
            </a:extLst>
          </p:cNvPr>
          <p:cNvSpPr/>
          <p:nvPr/>
        </p:nvSpPr>
        <p:spPr>
          <a:xfrm>
            <a:off x="1938528" y="449884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State-of-the-Art Results on Social Media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22">
            <a:extLst>
              <a:ext uri="{FF2B5EF4-FFF2-40B4-BE49-F238E27FC236}">
                <a16:creationId xmlns:a16="http://schemas.microsoft.com/office/drawing/2014/main" id="{F76B25E1-AF13-47F3-B7F2-56B749B24E5E}"/>
              </a:ext>
            </a:extLst>
          </p:cNvPr>
          <p:cNvSpPr/>
          <p:nvPr/>
        </p:nvSpPr>
        <p:spPr>
          <a:xfrm>
            <a:off x="1938528" y="4837176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Achieved 93.0% accuracy and 0.93 Macro-F1 - the best published result on Bangla social media sentiment and demonstrated exceptional Neutral class precision of 0.99.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hape 23">
            <a:extLst>
              <a:ext uri="{FF2B5EF4-FFF2-40B4-BE49-F238E27FC236}">
                <a16:creationId xmlns:a16="http://schemas.microsoft.com/office/drawing/2014/main" id="{676AC507-DEE7-480E-9C12-553743BF3249}"/>
              </a:ext>
            </a:extLst>
          </p:cNvPr>
          <p:cNvSpPr/>
          <p:nvPr/>
        </p:nvSpPr>
        <p:spPr>
          <a:xfrm>
            <a:off x="274320" y="5596128"/>
            <a:ext cx="11612880" cy="1024128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4" name="Image 4" descr="preencoded.png">
            <a:extLst>
              <a:ext uri="{FF2B5EF4-FFF2-40B4-BE49-F238E27FC236}">
                <a16:creationId xmlns:a16="http://schemas.microsoft.com/office/drawing/2014/main" id="{32D656FA-E1DB-4B4E-B58A-D40A78214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5705856"/>
            <a:ext cx="621792" cy="621792"/>
          </a:xfrm>
          <a:prstGeom prst="rect">
            <a:avLst/>
          </a:prstGeom>
        </p:spPr>
      </p:pic>
      <p:sp>
        <p:nvSpPr>
          <p:cNvPr id="105" name="Shape 24">
            <a:extLst>
              <a:ext uri="{FF2B5EF4-FFF2-40B4-BE49-F238E27FC236}">
                <a16:creationId xmlns:a16="http://schemas.microsoft.com/office/drawing/2014/main" id="{E602B44D-8866-4296-BFE8-1036A06E3AE7}"/>
              </a:ext>
            </a:extLst>
          </p:cNvPr>
          <p:cNvSpPr/>
          <p:nvPr/>
        </p:nvSpPr>
        <p:spPr>
          <a:xfrm>
            <a:off x="1078992" y="5596128"/>
            <a:ext cx="713232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6" name="Text 25">
            <a:extLst>
              <a:ext uri="{FF2B5EF4-FFF2-40B4-BE49-F238E27FC236}">
                <a16:creationId xmlns:a16="http://schemas.microsoft.com/office/drawing/2014/main" id="{69E2DB7F-D56A-41CD-B262-D49B35A4C8B2}"/>
              </a:ext>
            </a:extLst>
          </p:cNvPr>
          <p:cNvSpPr/>
          <p:nvPr/>
        </p:nvSpPr>
        <p:spPr>
          <a:xfrm>
            <a:off x="1078992" y="5596128"/>
            <a:ext cx="713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26">
            <a:extLst>
              <a:ext uri="{FF2B5EF4-FFF2-40B4-BE49-F238E27FC236}">
                <a16:creationId xmlns:a16="http://schemas.microsoft.com/office/drawing/2014/main" id="{30C2C50F-54AF-49D6-B11B-1DDB49EA293C}"/>
              </a:ext>
            </a:extLst>
          </p:cNvPr>
          <p:cNvSpPr/>
          <p:nvPr/>
        </p:nvSpPr>
        <p:spPr>
          <a:xfrm>
            <a:off x="1938528" y="56692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Comprehensive Multi-Model Benchmark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27">
            <a:extLst>
              <a:ext uri="{FF2B5EF4-FFF2-40B4-BE49-F238E27FC236}">
                <a16:creationId xmlns:a16="http://schemas.microsoft.com/office/drawing/2014/main" id="{4282305D-1F6D-4D11-AFC6-EE0DCD82161B}"/>
              </a:ext>
            </a:extLst>
          </p:cNvPr>
          <p:cNvSpPr/>
          <p:nvPr/>
        </p:nvSpPr>
        <p:spPr>
          <a:xfrm>
            <a:off x="1938528" y="600760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Provided a rigorous head-to-head comparison of LSTM, BiLSTM, and BERT+BiLSTM architectures under identical data splits and evaluation metrics, establishing reproducible baselines for the research community.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04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98220" y="960120"/>
            <a:ext cx="73152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8220" y="9601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48028" y="960120"/>
            <a:ext cx="17373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8028" y="960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03676" y="960120"/>
            <a:ext cx="237744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3676" y="960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99404" y="960120"/>
            <a:ext cx="2194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9404" y="9601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12252" y="960120"/>
            <a:ext cx="292608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2252" y="960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Gap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8220" y="1344168"/>
            <a:ext cx="73152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3940" y="134416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748028" y="1344168"/>
            <a:ext cx="1737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93748" y="13441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 &amp; Gambäck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03676" y="1344168"/>
            <a:ext cx="2377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9396" y="13441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 + n-gram features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99404" y="1344168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5124" y="13441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74.2% acc on Bangla Facebook comments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12252" y="1344168"/>
            <a:ext cx="2926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7972" y="134416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deep learning; small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98220" y="2121408"/>
            <a:ext cx="731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3940" y="212140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748028" y="2121408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93748" y="212140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Alam et 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503676" y="2121408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9396" y="212140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CNN + fastText embeddings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99404" y="2121408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5124" y="212140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81% on Bangla tweets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12252" y="2121408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7972" y="212140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Binary only; no Neutral class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8220" y="2898648"/>
            <a:ext cx="73152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3940" y="289864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48028" y="2898648"/>
            <a:ext cx="1737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93748" y="289864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Islam et 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503676" y="2898648"/>
            <a:ext cx="2377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9396" y="28986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 + Attention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99404" y="2898648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5124" y="289864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83.4% on movie reviews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12252" y="2898648"/>
            <a:ext cx="2926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57972" y="289864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Domain-specific; formal text only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98220" y="3675888"/>
            <a:ext cx="731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3940" y="367588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748028" y="3675888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93748" y="367588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Hossain et 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503676" y="3675888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49396" y="367588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mBERT fine-tuned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899404" y="3675888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5124" y="367588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87% on mixed Bangla-English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112252" y="3675888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57972" y="367588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model; not Bangla-specific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98220" y="4453128"/>
            <a:ext cx="73152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3940" y="445312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748028" y="4453128"/>
            <a:ext cx="1737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93748" y="445312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Rahman et 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503676" y="4453128"/>
            <a:ext cx="23774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49396" y="445312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BanglaBERT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899404" y="4453128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5124" y="445312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89.6% on news sentiment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112252" y="4453128"/>
            <a:ext cx="2926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57972" y="445312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News domain; not social media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98220" y="5230368"/>
            <a:ext cx="73152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3940" y="523036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748028" y="5230368"/>
            <a:ext cx="173736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93748" y="52303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503676" y="5230368"/>
            <a:ext cx="237744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49396" y="52303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Bangla-BERT + BiLSTM Hybrid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899404" y="5230368"/>
            <a:ext cx="219456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45124" y="52303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93.0% on social media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112252" y="5230368"/>
            <a:ext cx="292608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57972" y="523036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 Proposed contribution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53365" y="608076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📌  Research Gap: No prior work combines Bangla-BERT contextual embeddings with BiLSTM for 3-class social media sentiment analysis.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Methodology: Flow Chart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75B3108-2F4B-4C19-8D2C-83FC4F784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55" y="1088517"/>
            <a:ext cx="6185809" cy="533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9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15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(Cont.): Social Media Engagement Dataset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96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12,000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Samples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96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8,160 (68%)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Set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0025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1,440 (12%)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Set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0025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2,400 (20%)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Set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0083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818 tokens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Vocabulary Size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083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128–140 tokens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Sequence Length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669280" cy="26060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263640" y="960120"/>
            <a:ext cx="562356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92240" y="10515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Pipeline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492240" y="1517904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1517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022592" y="15270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Unicode Normalization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022592" y="17830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NFKC normalization to standardize character encoding across all Bangla text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492240" y="2322576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2322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022592" y="23317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Noise Removal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022592" y="25877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Remove URLs, @mentions, hashtags, and HTML artifacts from social media posts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92240" y="3127248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92240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022592" y="31363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Script Filtering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22592" y="33924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Retain only Bangla Unicode characters (\u0980–\u09FF) and preserve meaningful punctuation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492240" y="3931920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9224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022592" y="39410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Whitespace Cleaning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022592" y="41970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Collapse multiple spaces, strip leading/trailing whitespace, normalize line breaks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492240" y="4736592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4736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022592" y="47457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 Encoding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022592" y="50017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 Positive → 2, Negative → 0, Neutral → 1 with class weight balancing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492240" y="5541264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92240" y="5541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022592" y="55504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7022592" y="58064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Subword tokenization for BERT; word-level integer encoding for LSTM/BiLSTM models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>
            <a:extLst>
              <a:ext uri="{FF2B5EF4-FFF2-40B4-BE49-F238E27FC236}">
                <a16:creationId xmlns:a16="http://schemas.microsoft.com/office/drawing/2014/main" id="{CAF2D58C-A0FA-4098-96C4-435FC2C04663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AC3A8255-3B6A-441D-BE4A-C0CEA9C98640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46A484E2-57CC-4AB4-ACED-D56979BA5579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(Cont.): LSTM Architecture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46915C68-8C53-4131-89F3-7B6168CBFE94}"/>
              </a:ext>
            </a:extLst>
          </p:cNvPr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 Short-Term Memory Network for Sequential Bangla Text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9F8D2EF4-7E5A-482A-8D24-862557293AD7}"/>
              </a:ext>
            </a:extLst>
          </p:cNvPr>
          <p:cNvSpPr/>
          <p:nvPr/>
        </p:nvSpPr>
        <p:spPr>
          <a:xfrm>
            <a:off x="68580" y="1325880"/>
            <a:ext cx="1554480" cy="1234440"/>
          </a:xfrm>
          <a:prstGeom prst="rect">
            <a:avLst/>
          </a:prstGeom>
          <a:solidFill>
            <a:srgbClr val="1E4D8C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32A1EF7E-1503-4D82-B52A-86B1A90C7652}"/>
              </a:ext>
            </a:extLst>
          </p:cNvPr>
          <p:cNvSpPr/>
          <p:nvPr/>
        </p:nvSpPr>
        <p:spPr>
          <a:xfrm>
            <a:off x="141732" y="1371600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ABA99383-091C-4F6B-A993-EDF670103DF3}"/>
              </a:ext>
            </a:extLst>
          </p:cNvPr>
          <p:cNvSpPr/>
          <p:nvPr/>
        </p:nvSpPr>
        <p:spPr>
          <a:xfrm>
            <a:off x="114300" y="20116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len = 130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097CC1E1-192B-45A1-BA90-A8312187F4D5}"/>
              </a:ext>
            </a:extLst>
          </p:cNvPr>
          <p:cNvSpPr/>
          <p:nvPr/>
        </p:nvSpPr>
        <p:spPr>
          <a:xfrm>
            <a:off x="162306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000B8426-2932-47B7-B145-0AA4B4B36D74}"/>
              </a:ext>
            </a:extLst>
          </p:cNvPr>
          <p:cNvSpPr/>
          <p:nvPr/>
        </p:nvSpPr>
        <p:spPr>
          <a:xfrm>
            <a:off x="1760220" y="1325880"/>
            <a:ext cx="1920240" cy="1234440"/>
          </a:xfrm>
          <a:prstGeom prst="rect">
            <a:avLst/>
          </a:prstGeom>
          <a:solidFill>
            <a:srgbClr val="0E6B72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FA7A177A-0091-4AB5-97D6-EA7EA75E8670}"/>
              </a:ext>
            </a:extLst>
          </p:cNvPr>
          <p:cNvSpPr/>
          <p:nvPr/>
        </p:nvSpPr>
        <p:spPr>
          <a:xfrm>
            <a:off x="1833372" y="137160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C5C7DBEE-927F-4E05-8750-F365CB0B47F8}"/>
              </a:ext>
            </a:extLst>
          </p:cNvPr>
          <p:cNvSpPr/>
          <p:nvPr/>
        </p:nvSpPr>
        <p:spPr>
          <a:xfrm>
            <a:off x="1805940" y="2011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Vocab=818 · Dim=64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D6A80639-0074-4BBF-8669-4BC1515541F5}"/>
              </a:ext>
            </a:extLst>
          </p:cNvPr>
          <p:cNvSpPr/>
          <p:nvPr/>
        </p:nvSpPr>
        <p:spPr>
          <a:xfrm>
            <a:off x="368046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2" name="Shape 12">
            <a:extLst>
              <a:ext uri="{FF2B5EF4-FFF2-40B4-BE49-F238E27FC236}">
                <a16:creationId xmlns:a16="http://schemas.microsoft.com/office/drawing/2014/main" id="{04ABCA7B-2019-4D4B-A0A9-1C1CDC7EFB1E}"/>
              </a:ext>
            </a:extLst>
          </p:cNvPr>
          <p:cNvSpPr/>
          <p:nvPr/>
        </p:nvSpPr>
        <p:spPr>
          <a:xfrm>
            <a:off x="3817620" y="1325880"/>
            <a:ext cx="201168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2C227C43-3272-4C1E-B35F-CDC4D5E2FE54}"/>
              </a:ext>
            </a:extLst>
          </p:cNvPr>
          <p:cNvSpPr/>
          <p:nvPr/>
        </p:nvSpPr>
        <p:spPr>
          <a:xfrm>
            <a:off x="3890772" y="1371600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SpatialDropout1D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61E8A1C-83EA-4CCA-A695-77831E2A2401}"/>
              </a:ext>
            </a:extLst>
          </p:cNvPr>
          <p:cNvSpPr/>
          <p:nvPr/>
        </p:nvSpPr>
        <p:spPr>
          <a:xfrm>
            <a:off x="3863340" y="2011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= 0.2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93EE320D-E7A4-4884-9C7B-49F3CB5ADD62}"/>
              </a:ext>
            </a:extLst>
          </p:cNvPr>
          <p:cNvSpPr/>
          <p:nvPr/>
        </p:nvSpPr>
        <p:spPr>
          <a:xfrm>
            <a:off x="582930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089D7660-4C0F-4EBF-8CEE-0D4879C53980}"/>
              </a:ext>
            </a:extLst>
          </p:cNvPr>
          <p:cNvSpPr/>
          <p:nvPr/>
        </p:nvSpPr>
        <p:spPr>
          <a:xfrm>
            <a:off x="5966460" y="1325880"/>
            <a:ext cx="2377440" cy="1234440"/>
          </a:xfrm>
          <a:prstGeom prst="rect">
            <a:avLst/>
          </a:prstGeom>
          <a:solidFill>
            <a:srgbClr val="1E4D8C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C1653C33-B57A-4F49-917C-A1F3F28B272C}"/>
              </a:ext>
            </a:extLst>
          </p:cNvPr>
          <p:cNvSpPr/>
          <p:nvPr/>
        </p:nvSpPr>
        <p:spPr>
          <a:xfrm>
            <a:off x="6039612" y="137160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8DD3C2C-0811-4D6F-BD12-AFCF983B54A3}"/>
              </a:ext>
            </a:extLst>
          </p:cNvPr>
          <p:cNvSpPr/>
          <p:nvPr/>
        </p:nvSpPr>
        <p:spPr>
          <a:xfrm>
            <a:off x="6012180" y="2011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 units · return_seq=False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FB48DCE8-00B2-4CBD-AA17-E9220857A859}"/>
              </a:ext>
            </a:extLst>
          </p:cNvPr>
          <p:cNvSpPr/>
          <p:nvPr/>
        </p:nvSpPr>
        <p:spPr>
          <a:xfrm>
            <a:off x="834390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0" name="Shape 20">
            <a:extLst>
              <a:ext uri="{FF2B5EF4-FFF2-40B4-BE49-F238E27FC236}">
                <a16:creationId xmlns:a16="http://schemas.microsoft.com/office/drawing/2014/main" id="{15654871-7229-4F73-AB9D-E297C5A781BC}"/>
              </a:ext>
            </a:extLst>
          </p:cNvPr>
          <p:cNvSpPr/>
          <p:nvPr/>
        </p:nvSpPr>
        <p:spPr>
          <a:xfrm>
            <a:off x="8481060" y="1325880"/>
            <a:ext cx="155448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131FD01A-696A-43F8-BBA2-85F915336952}"/>
              </a:ext>
            </a:extLst>
          </p:cNvPr>
          <p:cNvSpPr/>
          <p:nvPr/>
        </p:nvSpPr>
        <p:spPr>
          <a:xfrm>
            <a:off x="8554212" y="1371600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Dropout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1CF00D9B-E4F8-4073-A12C-6FF4A708BC57}"/>
              </a:ext>
            </a:extLst>
          </p:cNvPr>
          <p:cNvSpPr/>
          <p:nvPr/>
        </p:nvSpPr>
        <p:spPr>
          <a:xfrm>
            <a:off x="8526780" y="20116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= 0.3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0372776F-7463-422D-A909-DFED44FCCDD4}"/>
              </a:ext>
            </a:extLst>
          </p:cNvPr>
          <p:cNvSpPr/>
          <p:nvPr/>
        </p:nvSpPr>
        <p:spPr>
          <a:xfrm>
            <a:off x="1003554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4" name="Shape 24">
            <a:extLst>
              <a:ext uri="{FF2B5EF4-FFF2-40B4-BE49-F238E27FC236}">
                <a16:creationId xmlns:a16="http://schemas.microsoft.com/office/drawing/2014/main" id="{E96552A1-346F-4C7F-87C0-D888527E260B}"/>
              </a:ext>
            </a:extLst>
          </p:cNvPr>
          <p:cNvSpPr/>
          <p:nvPr/>
        </p:nvSpPr>
        <p:spPr>
          <a:xfrm>
            <a:off x="10172700" y="1325880"/>
            <a:ext cx="19202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AA4A74BE-010D-46B5-BC95-317FAA6DAF67}"/>
              </a:ext>
            </a:extLst>
          </p:cNvPr>
          <p:cNvSpPr/>
          <p:nvPr/>
        </p:nvSpPr>
        <p:spPr>
          <a:xfrm>
            <a:off x="10245852" y="137160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Dense (Softmax)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1B92723F-1B38-4959-BF12-04C9A2FF727A}"/>
              </a:ext>
            </a:extLst>
          </p:cNvPr>
          <p:cNvSpPr/>
          <p:nvPr/>
        </p:nvSpPr>
        <p:spPr>
          <a:xfrm>
            <a:off x="10218420" y="2011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classes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27">
            <a:extLst>
              <a:ext uri="{FF2B5EF4-FFF2-40B4-BE49-F238E27FC236}">
                <a16:creationId xmlns:a16="http://schemas.microsoft.com/office/drawing/2014/main" id="{702FCFC0-0190-46E2-88CB-5ED263FB5FE2}"/>
              </a:ext>
            </a:extLst>
          </p:cNvPr>
          <p:cNvSpPr/>
          <p:nvPr/>
        </p:nvSpPr>
        <p:spPr>
          <a:xfrm>
            <a:off x="2743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Hyperparameters &amp; Training Configuration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28">
            <a:extLst>
              <a:ext uri="{FF2B5EF4-FFF2-40B4-BE49-F238E27FC236}">
                <a16:creationId xmlns:a16="http://schemas.microsoft.com/office/drawing/2014/main" id="{84DC94DF-FA1D-4B24-8AA0-379B32E7DAA3}"/>
              </a:ext>
            </a:extLst>
          </p:cNvPr>
          <p:cNvSpPr/>
          <p:nvPr/>
        </p:nvSpPr>
        <p:spPr>
          <a:xfrm>
            <a:off x="274320" y="3182112"/>
            <a:ext cx="7955280" cy="3474720"/>
          </a:xfrm>
          <a:prstGeom prst="rect">
            <a:avLst/>
          </a:prstGeom>
          <a:solidFill>
            <a:srgbClr val="1A2535"/>
          </a:solidFill>
          <a:ln w="12700">
            <a:solidFill>
              <a:srgbClr val="243454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29">
            <a:extLst>
              <a:ext uri="{FF2B5EF4-FFF2-40B4-BE49-F238E27FC236}">
                <a16:creationId xmlns:a16="http://schemas.microsoft.com/office/drawing/2014/main" id="{B4860912-FD78-4DFF-9632-7AA73C5885C8}"/>
              </a:ext>
            </a:extLst>
          </p:cNvPr>
          <p:cNvSpPr/>
          <p:nvPr/>
        </p:nvSpPr>
        <p:spPr>
          <a:xfrm>
            <a:off x="457200" y="32735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Vocabulary Size: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D081E9A8-A2E0-4E6D-B869-03178758147B}"/>
              </a:ext>
            </a:extLst>
          </p:cNvPr>
          <p:cNvSpPr/>
          <p:nvPr/>
        </p:nvSpPr>
        <p:spPr>
          <a:xfrm>
            <a:off x="2788920" y="32735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818 tokens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BD547A83-A28A-48BC-81C8-CB4B6E1C5F1B}"/>
              </a:ext>
            </a:extLst>
          </p:cNvPr>
          <p:cNvSpPr/>
          <p:nvPr/>
        </p:nvSpPr>
        <p:spPr>
          <a:xfrm>
            <a:off x="5029200" y="32735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Optimizer</a:t>
            </a: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C385E065-0943-4C87-BDE6-14E374BE2DAE}"/>
              </a:ext>
            </a:extLst>
          </p:cNvPr>
          <p:cNvSpPr/>
          <p:nvPr/>
        </p:nvSpPr>
        <p:spPr>
          <a:xfrm>
            <a:off x="7360920" y="32735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9E2EDD17-A9E4-4780-A869-751445FD7923}"/>
              </a:ext>
            </a:extLst>
          </p:cNvPr>
          <p:cNvSpPr/>
          <p:nvPr/>
        </p:nvSpPr>
        <p:spPr>
          <a:xfrm>
            <a:off x="45720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Embedding Dimension: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BF4FD7A6-3BA4-4B5A-A1D6-ACDF82BA875E}"/>
              </a:ext>
            </a:extLst>
          </p:cNvPr>
          <p:cNvSpPr/>
          <p:nvPr/>
        </p:nvSpPr>
        <p:spPr>
          <a:xfrm>
            <a:off x="2788920" y="38221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35">
            <a:extLst>
              <a:ext uri="{FF2B5EF4-FFF2-40B4-BE49-F238E27FC236}">
                <a16:creationId xmlns:a16="http://schemas.microsoft.com/office/drawing/2014/main" id="{49500E98-3F27-4317-8CEC-FBE1739003A0}"/>
              </a:ext>
            </a:extLst>
          </p:cNvPr>
          <p:cNvSpPr/>
          <p:nvPr/>
        </p:nvSpPr>
        <p:spPr>
          <a:xfrm>
            <a:off x="502920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 Function: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4F201E03-E80F-49A6-8494-2492AD0E29E4}"/>
              </a:ext>
            </a:extLst>
          </p:cNvPr>
          <p:cNvSpPr/>
          <p:nvPr/>
        </p:nvSpPr>
        <p:spPr>
          <a:xfrm>
            <a:off x="73609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Sparse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</a:t>
            </a:r>
          </a:p>
          <a:p>
            <a:pPr marL="0" indent="0">
              <a:buNone/>
            </a:pPr>
            <a:r>
              <a:rPr lang="en-US" sz="1100" b="1" dirty="0" err="1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Crossentropy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37">
            <a:extLst>
              <a:ext uri="{FF2B5EF4-FFF2-40B4-BE49-F238E27FC236}">
                <a16:creationId xmlns:a16="http://schemas.microsoft.com/office/drawing/2014/main" id="{C8BB154D-3DC6-4977-8D32-149933A38AC3}"/>
              </a:ext>
            </a:extLst>
          </p:cNvPr>
          <p:cNvSpPr/>
          <p:nvPr/>
        </p:nvSpPr>
        <p:spPr>
          <a:xfrm>
            <a:off x="457200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Units: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38">
            <a:extLst>
              <a:ext uri="{FF2B5EF4-FFF2-40B4-BE49-F238E27FC236}">
                <a16:creationId xmlns:a16="http://schemas.microsoft.com/office/drawing/2014/main" id="{993510CD-C57A-44E8-8AF1-E1B7DF35D232}"/>
              </a:ext>
            </a:extLst>
          </p:cNvPr>
          <p:cNvSpPr/>
          <p:nvPr/>
        </p:nvSpPr>
        <p:spPr>
          <a:xfrm>
            <a:off x="2788920" y="43708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 39">
            <a:extLst>
              <a:ext uri="{FF2B5EF4-FFF2-40B4-BE49-F238E27FC236}">
                <a16:creationId xmlns:a16="http://schemas.microsoft.com/office/drawing/2014/main" id="{524C3A41-50FA-416D-A1DC-FE2132B6544E}"/>
              </a:ext>
            </a:extLst>
          </p:cNvPr>
          <p:cNvSpPr/>
          <p:nvPr/>
        </p:nvSpPr>
        <p:spPr>
          <a:xfrm>
            <a:off x="5029200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 Size</a:t>
            </a: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5A6D2FAC-1331-47FE-864A-FA9082D63FE3}"/>
              </a:ext>
            </a:extLst>
          </p:cNvPr>
          <p:cNvSpPr/>
          <p:nvPr/>
        </p:nvSpPr>
        <p:spPr>
          <a:xfrm>
            <a:off x="7360920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628A6639-BAC0-42FE-9DC8-A907712CA216}"/>
              </a:ext>
            </a:extLst>
          </p:cNvPr>
          <p:cNvSpPr/>
          <p:nvPr/>
        </p:nvSpPr>
        <p:spPr>
          <a:xfrm>
            <a:off x="457200" y="4919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Sequence Length: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EB904144-5B5D-46B5-A393-BA90F99F63D4}"/>
              </a:ext>
            </a:extLst>
          </p:cNvPr>
          <p:cNvSpPr/>
          <p:nvPr/>
        </p:nvSpPr>
        <p:spPr>
          <a:xfrm>
            <a:off x="2788920" y="49194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130 tokens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 43">
            <a:extLst>
              <a:ext uri="{FF2B5EF4-FFF2-40B4-BE49-F238E27FC236}">
                <a16:creationId xmlns:a16="http://schemas.microsoft.com/office/drawing/2014/main" id="{66182BBA-761B-45F2-8D0D-648529EA35E5}"/>
              </a:ext>
            </a:extLst>
          </p:cNvPr>
          <p:cNvSpPr/>
          <p:nvPr/>
        </p:nvSpPr>
        <p:spPr>
          <a:xfrm>
            <a:off x="5029200" y="4919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Stopping</a:t>
            </a: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EAC10DDB-E04A-474D-BB82-C7CC78812C52}"/>
              </a:ext>
            </a:extLst>
          </p:cNvPr>
          <p:cNvSpPr/>
          <p:nvPr/>
        </p:nvSpPr>
        <p:spPr>
          <a:xfrm>
            <a:off x="7360920" y="4919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Patience =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3 (Val Loss)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26B78ED1-0A9C-4AC8-B94F-D9D289EB0216}"/>
              </a:ext>
            </a:extLst>
          </p:cNvPr>
          <p:cNvSpPr/>
          <p:nvPr/>
        </p:nvSpPr>
        <p:spPr>
          <a:xfrm>
            <a:off x="457200" y="5468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Dropout Rate</a:t>
            </a: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46">
            <a:extLst>
              <a:ext uri="{FF2B5EF4-FFF2-40B4-BE49-F238E27FC236}">
                <a16:creationId xmlns:a16="http://schemas.microsoft.com/office/drawing/2014/main" id="{821D959D-045C-486C-B1BD-F2A4E94A51E9}"/>
              </a:ext>
            </a:extLst>
          </p:cNvPr>
          <p:cNvSpPr/>
          <p:nvPr/>
        </p:nvSpPr>
        <p:spPr>
          <a:xfrm>
            <a:off x="2788920" y="5468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0.2 / 0.3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871348AB-7225-4B8C-B0E5-0F03698615F5}"/>
              </a:ext>
            </a:extLst>
          </p:cNvPr>
          <p:cNvSpPr/>
          <p:nvPr/>
        </p:nvSpPr>
        <p:spPr>
          <a:xfrm>
            <a:off x="5029200" y="5468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Epochs: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48">
            <a:extLst>
              <a:ext uri="{FF2B5EF4-FFF2-40B4-BE49-F238E27FC236}">
                <a16:creationId xmlns:a16="http://schemas.microsoft.com/office/drawing/2014/main" id="{0135EF62-5091-4A18-B638-9C38633BC374}"/>
              </a:ext>
            </a:extLst>
          </p:cNvPr>
          <p:cNvSpPr/>
          <p:nvPr/>
        </p:nvSpPr>
        <p:spPr>
          <a:xfrm>
            <a:off x="7360920" y="5468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(stopped)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49">
            <a:extLst>
              <a:ext uri="{FF2B5EF4-FFF2-40B4-BE49-F238E27FC236}">
                <a16:creationId xmlns:a16="http://schemas.microsoft.com/office/drawing/2014/main" id="{EA7DAB71-8825-4C19-B61B-4097692932E6}"/>
              </a:ext>
            </a:extLst>
          </p:cNvPr>
          <p:cNvSpPr/>
          <p:nvPr/>
        </p:nvSpPr>
        <p:spPr>
          <a:xfrm>
            <a:off x="457200" y="6016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Weighting</a:t>
            </a: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50">
            <a:extLst>
              <a:ext uri="{FF2B5EF4-FFF2-40B4-BE49-F238E27FC236}">
                <a16:creationId xmlns:a16="http://schemas.microsoft.com/office/drawing/2014/main" id="{EC570B85-5551-4AC3-B64A-B0AB0A92AF43}"/>
              </a:ext>
            </a:extLst>
          </p:cNvPr>
          <p:cNvSpPr/>
          <p:nvPr/>
        </p:nvSpPr>
        <p:spPr>
          <a:xfrm>
            <a:off x="2788920" y="60167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Balanced (sklearn)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 51">
            <a:extLst>
              <a:ext uri="{FF2B5EF4-FFF2-40B4-BE49-F238E27FC236}">
                <a16:creationId xmlns:a16="http://schemas.microsoft.com/office/drawing/2014/main" id="{DB8B2F24-1794-432B-AB58-785D3B966C83}"/>
              </a:ext>
            </a:extLst>
          </p:cNvPr>
          <p:cNvSpPr/>
          <p:nvPr/>
        </p:nvSpPr>
        <p:spPr>
          <a:xfrm>
            <a:off x="5029200" y="6016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</a:t>
            </a: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52">
            <a:extLst>
              <a:ext uri="{FF2B5EF4-FFF2-40B4-BE49-F238E27FC236}">
                <a16:creationId xmlns:a16="http://schemas.microsoft.com/office/drawing/2014/main" id="{143AF2CE-4D68-4DC4-A0E8-603E67C62947}"/>
              </a:ext>
            </a:extLst>
          </p:cNvPr>
          <p:cNvSpPr/>
          <p:nvPr/>
        </p:nvSpPr>
        <p:spPr>
          <a:xfrm>
            <a:off x="7360920" y="6016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</a:t>
            </a:r>
          </a:p>
          <a:p>
            <a:pPr marL="0" indent="0">
              <a:buNone/>
            </a:pPr>
            <a:r>
              <a:rPr lang="en-US" sz="1100" b="1" dirty="0" err="1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Colab</a:t>
            </a: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GPU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hape 53">
            <a:extLst>
              <a:ext uri="{FF2B5EF4-FFF2-40B4-BE49-F238E27FC236}">
                <a16:creationId xmlns:a16="http://schemas.microsoft.com/office/drawing/2014/main" id="{A6B4D28F-AA2D-4FE8-9976-9140F3FDB424}"/>
              </a:ext>
            </a:extLst>
          </p:cNvPr>
          <p:cNvSpPr/>
          <p:nvPr/>
        </p:nvSpPr>
        <p:spPr>
          <a:xfrm>
            <a:off x="8352814" y="2816352"/>
            <a:ext cx="3520440" cy="3840480"/>
          </a:xfrm>
          <a:prstGeom prst="rect">
            <a:avLst/>
          </a:prstGeom>
          <a:solidFill>
            <a:srgbClr val="1A2535"/>
          </a:solidFill>
          <a:ln w="190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54">
            <a:extLst>
              <a:ext uri="{FF2B5EF4-FFF2-40B4-BE49-F238E27FC236}">
                <a16:creationId xmlns:a16="http://schemas.microsoft.com/office/drawing/2014/main" id="{6EB79DD5-964F-499D-86E0-6AD4C53D40F9}"/>
              </a:ext>
            </a:extLst>
          </p:cNvPr>
          <p:cNvSpPr/>
          <p:nvPr/>
        </p:nvSpPr>
        <p:spPr>
          <a:xfrm>
            <a:off x="854964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LSTM?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55">
            <a:extLst>
              <a:ext uri="{FF2B5EF4-FFF2-40B4-BE49-F238E27FC236}">
                <a16:creationId xmlns:a16="http://schemas.microsoft.com/office/drawing/2014/main" id="{5FB7FA4A-4B33-45C9-B34A-DD4723664478}"/>
              </a:ext>
            </a:extLst>
          </p:cNvPr>
          <p:cNvSpPr/>
          <p:nvPr/>
        </p:nvSpPr>
        <p:spPr>
          <a:xfrm>
            <a:off x="8549640" y="32735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Captures long-range sequential dependencies in text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56">
            <a:extLst>
              <a:ext uri="{FF2B5EF4-FFF2-40B4-BE49-F238E27FC236}">
                <a16:creationId xmlns:a16="http://schemas.microsoft.com/office/drawing/2014/main" id="{7FCEE68E-ECF2-4CCE-A08B-7B500E240823}"/>
              </a:ext>
            </a:extLst>
          </p:cNvPr>
          <p:cNvSpPr/>
          <p:nvPr/>
        </p:nvSpPr>
        <p:spPr>
          <a:xfrm>
            <a:off x="8549640" y="407822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Solves vanishing gradient of vanilla RNNs via gating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57">
            <a:extLst>
              <a:ext uri="{FF2B5EF4-FFF2-40B4-BE49-F238E27FC236}">
                <a16:creationId xmlns:a16="http://schemas.microsoft.com/office/drawing/2014/main" id="{3484F12B-D1E6-4F8B-B8C2-02D7AE663169}"/>
              </a:ext>
            </a:extLst>
          </p:cNvPr>
          <p:cNvSpPr/>
          <p:nvPr/>
        </p:nvSpPr>
        <p:spPr>
          <a:xfrm>
            <a:off x="8549640" y="48828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Proven effective for NLP classification tasks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58">
            <a:extLst>
              <a:ext uri="{FF2B5EF4-FFF2-40B4-BE49-F238E27FC236}">
                <a16:creationId xmlns:a16="http://schemas.microsoft.com/office/drawing/2014/main" id="{5791F705-27F7-4C22-94C8-057CA29CB46D}"/>
              </a:ext>
            </a:extLst>
          </p:cNvPr>
          <p:cNvSpPr/>
          <p:nvPr/>
        </p:nvSpPr>
        <p:spPr>
          <a:xfrm>
            <a:off x="8549640" y="56875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Lightweight - fast to train on small datasets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427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A3E6EC-CCFC-495A-88FC-E2EF9377ACB9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EBCECF-E113-4288-A4A8-9E585E83818C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4507CF-1A92-468C-A30B-47D058F731E4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(Cont.): Bidirectional LSTM Architecture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53EC5F-AEAE-4EFF-B730-F91E02DDB270}"/>
              </a:ext>
            </a:extLst>
          </p:cNvPr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Bidirectional LSTM processes text in both forward and backward directions simultaneously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0879E2-9EC5-44F1-A7CE-20DB742DAB7F}"/>
              </a:ext>
            </a:extLst>
          </p:cNvPr>
          <p:cNvSpPr/>
          <p:nvPr/>
        </p:nvSpPr>
        <p:spPr>
          <a:xfrm>
            <a:off x="68580" y="1325880"/>
            <a:ext cx="1554480" cy="1234440"/>
          </a:xfrm>
          <a:prstGeom prst="rect">
            <a:avLst/>
          </a:prstGeom>
          <a:solidFill>
            <a:srgbClr val="1E4D8C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84F0E6-DAC4-4047-BBE2-E1E82F7D98D2}"/>
              </a:ext>
            </a:extLst>
          </p:cNvPr>
          <p:cNvSpPr/>
          <p:nvPr/>
        </p:nvSpPr>
        <p:spPr>
          <a:xfrm>
            <a:off x="141732" y="1371600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A59104-5D73-412E-88B4-4034A7C9585D}"/>
              </a:ext>
            </a:extLst>
          </p:cNvPr>
          <p:cNvSpPr/>
          <p:nvPr/>
        </p:nvSpPr>
        <p:spPr>
          <a:xfrm>
            <a:off x="114300" y="20116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len = 140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FB746CD-333D-43A6-B55E-230B1182016E}"/>
              </a:ext>
            </a:extLst>
          </p:cNvPr>
          <p:cNvSpPr/>
          <p:nvPr/>
        </p:nvSpPr>
        <p:spPr>
          <a:xfrm>
            <a:off x="162306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A4FD3D7-533B-4867-AEE3-4BA08EFBA59F}"/>
              </a:ext>
            </a:extLst>
          </p:cNvPr>
          <p:cNvSpPr/>
          <p:nvPr/>
        </p:nvSpPr>
        <p:spPr>
          <a:xfrm>
            <a:off x="1760220" y="1325880"/>
            <a:ext cx="1920240" cy="1234440"/>
          </a:xfrm>
          <a:prstGeom prst="rect">
            <a:avLst/>
          </a:prstGeom>
          <a:solidFill>
            <a:srgbClr val="0E6B72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D51D1B-68D0-487F-83FA-E97ECAB18157}"/>
              </a:ext>
            </a:extLst>
          </p:cNvPr>
          <p:cNvSpPr/>
          <p:nvPr/>
        </p:nvSpPr>
        <p:spPr>
          <a:xfrm>
            <a:off x="1833372" y="137160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505DEBD-6DBC-4DED-BCC1-C95B74D2B1B4}"/>
              </a:ext>
            </a:extLst>
          </p:cNvPr>
          <p:cNvSpPr/>
          <p:nvPr/>
        </p:nvSpPr>
        <p:spPr>
          <a:xfrm>
            <a:off x="1805940" y="2011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Vocab=818 · Dim=64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4266D78-5DA5-49E7-AC4E-E2192764894E}"/>
              </a:ext>
            </a:extLst>
          </p:cNvPr>
          <p:cNvSpPr/>
          <p:nvPr/>
        </p:nvSpPr>
        <p:spPr>
          <a:xfrm>
            <a:off x="368046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C088E40-869F-424B-A513-C90F03FE389E}"/>
              </a:ext>
            </a:extLst>
          </p:cNvPr>
          <p:cNvSpPr/>
          <p:nvPr/>
        </p:nvSpPr>
        <p:spPr>
          <a:xfrm>
            <a:off x="3817620" y="1325880"/>
            <a:ext cx="201168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CB7D80-B6B3-4C0D-AE94-A90B5F766FAA}"/>
              </a:ext>
            </a:extLst>
          </p:cNvPr>
          <p:cNvSpPr/>
          <p:nvPr/>
        </p:nvSpPr>
        <p:spPr>
          <a:xfrm>
            <a:off x="3890772" y="1371600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SpatialDropout1D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AE6D50-EF51-4BB2-AB6D-A978243A12CD}"/>
              </a:ext>
            </a:extLst>
          </p:cNvPr>
          <p:cNvSpPr/>
          <p:nvPr/>
        </p:nvSpPr>
        <p:spPr>
          <a:xfrm>
            <a:off x="3863340" y="2011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= 0.2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80F50A7-4EB9-40C6-B8ED-E33D2B2A86EB}"/>
              </a:ext>
            </a:extLst>
          </p:cNvPr>
          <p:cNvSpPr/>
          <p:nvPr/>
        </p:nvSpPr>
        <p:spPr>
          <a:xfrm>
            <a:off x="582930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1F8603-0F13-4143-956D-29CD1BA0E7B4}"/>
              </a:ext>
            </a:extLst>
          </p:cNvPr>
          <p:cNvSpPr/>
          <p:nvPr/>
        </p:nvSpPr>
        <p:spPr>
          <a:xfrm>
            <a:off x="5966460" y="1325880"/>
            <a:ext cx="2377440" cy="1234440"/>
          </a:xfrm>
          <a:prstGeom prst="rect">
            <a:avLst/>
          </a:prstGeom>
          <a:solidFill>
            <a:srgbClr val="00776A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FB83CC4-9881-4D21-9FD8-DA2797A6CA0B}"/>
              </a:ext>
            </a:extLst>
          </p:cNvPr>
          <p:cNvSpPr/>
          <p:nvPr/>
        </p:nvSpPr>
        <p:spPr>
          <a:xfrm>
            <a:off x="6039612" y="137160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Bidirectional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526707B-982B-4051-85F1-30C63C37D34B}"/>
              </a:ext>
            </a:extLst>
          </p:cNvPr>
          <p:cNvSpPr/>
          <p:nvPr/>
        </p:nvSpPr>
        <p:spPr>
          <a:xfrm>
            <a:off x="6012180" y="2011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 units × 2 = 128 total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F173954-78DF-458A-A00C-40AADFAF5573}"/>
              </a:ext>
            </a:extLst>
          </p:cNvPr>
          <p:cNvSpPr/>
          <p:nvPr/>
        </p:nvSpPr>
        <p:spPr>
          <a:xfrm>
            <a:off x="834390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00944A8-9A4C-4566-82D2-B45C8ABD71DA}"/>
              </a:ext>
            </a:extLst>
          </p:cNvPr>
          <p:cNvSpPr/>
          <p:nvPr/>
        </p:nvSpPr>
        <p:spPr>
          <a:xfrm>
            <a:off x="8481060" y="1325880"/>
            <a:ext cx="155448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1814736-D921-46B6-A595-4BEB17AF7694}"/>
              </a:ext>
            </a:extLst>
          </p:cNvPr>
          <p:cNvSpPr/>
          <p:nvPr/>
        </p:nvSpPr>
        <p:spPr>
          <a:xfrm>
            <a:off x="8554212" y="1371600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Dropout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6ABA6CB-1A34-46CD-8D64-77F99AEFCD15}"/>
              </a:ext>
            </a:extLst>
          </p:cNvPr>
          <p:cNvSpPr/>
          <p:nvPr/>
        </p:nvSpPr>
        <p:spPr>
          <a:xfrm>
            <a:off x="8526780" y="20116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 = 0.3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5127B2A-0F77-4961-BE74-B05512BC6E9E}"/>
              </a:ext>
            </a:extLst>
          </p:cNvPr>
          <p:cNvSpPr/>
          <p:nvPr/>
        </p:nvSpPr>
        <p:spPr>
          <a:xfrm>
            <a:off x="10035540" y="1755648"/>
            <a:ext cx="137160" cy="384048"/>
          </a:xfrm>
          <a:prstGeom prst="rightArrow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9A86172-AE3C-4021-93A4-666B197B0873}"/>
              </a:ext>
            </a:extLst>
          </p:cNvPr>
          <p:cNvSpPr/>
          <p:nvPr/>
        </p:nvSpPr>
        <p:spPr>
          <a:xfrm>
            <a:off x="10172700" y="1325880"/>
            <a:ext cx="19202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06AEEAA-F702-4423-8FC0-17CFE3FFCCFF}"/>
              </a:ext>
            </a:extLst>
          </p:cNvPr>
          <p:cNvSpPr/>
          <p:nvPr/>
        </p:nvSpPr>
        <p:spPr>
          <a:xfrm>
            <a:off x="10245852" y="137160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Dense (Softmax)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CE4EB29-6F03-4FC5-AE54-AB6109D6683D}"/>
              </a:ext>
            </a:extLst>
          </p:cNvPr>
          <p:cNvSpPr/>
          <p:nvPr/>
        </p:nvSpPr>
        <p:spPr>
          <a:xfrm>
            <a:off x="10218420" y="2011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classes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E5AC03F-CEAF-4E21-AE02-9C36087B0F0C}"/>
              </a:ext>
            </a:extLst>
          </p:cNvPr>
          <p:cNvSpPr/>
          <p:nvPr/>
        </p:nvSpPr>
        <p:spPr>
          <a:xfrm>
            <a:off x="274320" y="2743200"/>
            <a:ext cx="7772400" cy="169164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29EC08D-5A1B-4C32-824E-B43E4B470F83}"/>
              </a:ext>
            </a:extLst>
          </p:cNvPr>
          <p:cNvSpPr/>
          <p:nvPr/>
        </p:nvSpPr>
        <p:spPr>
          <a:xfrm>
            <a:off x="457200" y="28163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Bidirectionality Works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543B222-8372-4B85-B8D2-52A9E2B3D9DF}"/>
              </a:ext>
            </a:extLst>
          </p:cNvPr>
          <p:cNvSpPr/>
          <p:nvPr/>
        </p:nvSpPr>
        <p:spPr>
          <a:xfrm>
            <a:off x="457200" y="320040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আমি → ভালো → নই  (Forward pass captures left-to-right context)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D65113C-C030-48D8-A38A-9C4C8EE91994}"/>
              </a:ext>
            </a:extLst>
          </p:cNvPr>
          <p:cNvSpPr/>
          <p:nvPr/>
        </p:nvSpPr>
        <p:spPr>
          <a:xfrm>
            <a:off x="457200" y="34930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নই → ভালো → আমি  (Backward pass captures right-to-left context)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7B131B9-01A9-4EBE-B959-2058C27ED6AB}"/>
              </a:ext>
            </a:extLst>
          </p:cNvPr>
          <p:cNvSpPr/>
          <p:nvPr/>
        </p:nvSpPr>
        <p:spPr>
          <a:xfrm>
            <a:off x="457200" y="37856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hidden states are concatenated → richer representation than one-directional LSTM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D9A2A81-12A1-4635-8AFA-6A45D2164A42}"/>
              </a:ext>
            </a:extLst>
          </p:cNvPr>
          <p:cNvSpPr/>
          <p:nvPr/>
        </p:nvSpPr>
        <p:spPr>
          <a:xfrm>
            <a:off x="274320" y="4572000"/>
            <a:ext cx="7772400" cy="2103120"/>
          </a:xfrm>
          <a:prstGeom prst="rect">
            <a:avLst/>
          </a:prstGeom>
          <a:solidFill>
            <a:srgbClr val="1A2535"/>
          </a:solidFill>
          <a:ln w="12700">
            <a:solidFill>
              <a:srgbClr val="243454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FDF1184-AE44-4ABD-BAFE-DBB468181F5E}"/>
              </a:ext>
            </a:extLst>
          </p:cNvPr>
          <p:cNvSpPr/>
          <p:nvPr/>
        </p:nvSpPr>
        <p:spPr>
          <a:xfrm>
            <a:off x="502920" y="46451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Configuration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BAAA4F3-4E94-4C2D-A9D1-B58176F3E720}"/>
              </a:ext>
            </a:extLst>
          </p:cNvPr>
          <p:cNvSpPr/>
          <p:nvPr/>
        </p:nvSpPr>
        <p:spPr>
          <a:xfrm>
            <a:off x="457200" y="5074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Units (each dir):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82E7638-E22C-4722-8F14-8B0F5C35AB9A}"/>
              </a:ext>
            </a:extLst>
          </p:cNvPr>
          <p:cNvSpPr/>
          <p:nvPr/>
        </p:nvSpPr>
        <p:spPr>
          <a:xfrm>
            <a:off x="3063240" y="5074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 → 128 total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3446AF1-E956-4B1B-9F18-F0B1F0F77527}"/>
              </a:ext>
            </a:extLst>
          </p:cNvPr>
          <p:cNvSpPr/>
          <p:nvPr/>
        </p:nvSpPr>
        <p:spPr>
          <a:xfrm>
            <a:off x="4937760" y="5074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Optimizer: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59081FA-EB6B-48A4-A3C4-14E5FEB4DEE4}"/>
              </a:ext>
            </a:extLst>
          </p:cNvPr>
          <p:cNvSpPr/>
          <p:nvPr/>
        </p:nvSpPr>
        <p:spPr>
          <a:xfrm>
            <a:off x="7086600" y="5074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CFE0CFB-9C3F-4B69-9840-455EB3C74625}"/>
              </a:ext>
            </a:extLst>
          </p:cNvPr>
          <p:cNvSpPr/>
          <p:nvPr/>
        </p:nvSpPr>
        <p:spPr>
          <a:xfrm>
            <a:off x="457200" y="5577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Sequence Length: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902E38F-9D74-4412-A352-D647044C3607}"/>
              </a:ext>
            </a:extLst>
          </p:cNvPr>
          <p:cNvSpPr/>
          <p:nvPr/>
        </p:nvSpPr>
        <p:spPr>
          <a:xfrm>
            <a:off x="3063240" y="5577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140 tokens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3DD8B55-119E-4933-87D3-18F9BA8A4533}"/>
              </a:ext>
            </a:extLst>
          </p:cNvPr>
          <p:cNvSpPr/>
          <p:nvPr/>
        </p:nvSpPr>
        <p:spPr>
          <a:xfrm>
            <a:off x="4937760" y="5577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 Size: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2DC019E-455E-466A-998B-5DBCCA1EDC39}"/>
              </a:ext>
            </a:extLst>
          </p:cNvPr>
          <p:cNvSpPr/>
          <p:nvPr/>
        </p:nvSpPr>
        <p:spPr>
          <a:xfrm>
            <a:off x="7086600" y="5577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B17B4FF-D62C-4FC3-941C-DC32A9AB29B6}"/>
              </a:ext>
            </a:extLst>
          </p:cNvPr>
          <p:cNvSpPr/>
          <p:nvPr/>
        </p:nvSpPr>
        <p:spPr>
          <a:xfrm>
            <a:off x="457200" y="6080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Dropout: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266B2A7-C1D2-48AB-97C0-D5BB99FAB0BE}"/>
              </a:ext>
            </a:extLst>
          </p:cNvPr>
          <p:cNvSpPr/>
          <p:nvPr/>
        </p:nvSpPr>
        <p:spPr>
          <a:xfrm>
            <a:off x="3063240" y="6080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0.2 / 0.3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AFF7F7F-0934-4D02-AB3E-0EDAAE2965FC}"/>
              </a:ext>
            </a:extLst>
          </p:cNvPr>
          <p:cNvSpPr/>
          <p:nvPr/>
        </p:nvSpPr>
        <p:spPr>
          <a:xfrm>
            <a:off x="4937760" y="6080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Epochs Trained: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23802628-CBF3-4774-8035-C024C2C83F04}"/>
              </a:ext>
            </a:extLst>
          </p:cNvPr>
          <p:cNvSpPr/>
          <p:nvPr/>
        </p:nvSpPr>
        <p:spPr>
          <a:xfrm>
            <a:off x="7086600" y="6080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(early stop)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317D09D-4FED-4D53-85F7-1E00DBE16930}"/>
              </a:ext>
            </a:extLst>
          </p:cNvPr>
          <p:cNvSpPr/>
          <p:nvPr/>
        </p:nvSpPr>
        <p:spPr>
          <a:xfrm>
            <a:off x="8366760" y="2743200"/>
            <a:ext cx="3520440" cy="393192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6A8A2EC-AF82-41AA-B60F-A8F3DB1726E0}"/>
              </a:ext>
            </a:extLst>
          </p:cNvPr>
          <p:cNvSpPr/>
          <p:nvPr/>
        </p:nvSpPr>
        <p:spPr>
          <a:xfrm>
            <a:off x="854964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vs BiLSTM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5F489E1-16AB-4644-AA02-B4D0D28A5F22}"/>
              </a:ext>
            </a:extLst>
          </p:cNvPr>
          <p:cNvSpPr/>
          <p:nvPr/>
        </p:nvSpPr>
        <p:spPr>
          <a:xfrm>
            <a:off x="8549640" y="32735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BiLSTM reads both left→right and right→left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A91D661-B51C-4969-96CB-21A52F215EA3}"/>
              </a:ext>
            </a:extLst>
          </p:cNvPr>
          <p:cNvSpPr/>
          <p:nvPr/>
        </p:nvSpPr>
        <p:spPr>
          <a:xfrm>
            <a:off x="8549640" y="39593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Doubles the hidden state dimension (64×2=128)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DE611C1F-5207-4578-A8DF-D2811902F2FF}"/>
              </a:ext>
            </a:extLst>
          </p:cNvPr>
          <p:cNvSpPr/>
          <p:nvPr/>
        </p:nvSpPr>
        <p:spPr>
          <a:xfrm>
            <a:off x="854964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Better at capturing negation patterns (e.g., না, নই)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CBEA4272-008D-43A9-AD1E-85550A3C5350}"/>
              </a:ext>
            </a:extLst>
          </p:cNvPr>
          <p:cNvSpPr/>
          <p:nvPr/>
        </p:nvSpPr>
        <p:spPr>
          <a:xfrm>
            <a:off x="8549640" y="53309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Slightly slower to train due to doubled parameters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5C7A7DF-CE1E-4C39-95EB-3555CDCD6870}"/>
              </a:ext>
            </a:extLst>
          </p:cNvPr>
          <p:cNvSpPr/>
          <p:nvPr/>
        </p:nvSpPr>
        <p:spPr>
          <a:xfrm>
            <a:off x="8549640" y="60167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Often outperforms LSTM on short informal text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2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996A5F-86E3-45F4-94EF-4F1E174D4734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ADDD9E1-B034-4DF5-AEA5-D7C13005044A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170B17-59DA-4E16-BDE3-3BD97B973D82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(Cont.) : Bangla-BERT + BiLSTM Hybrid Architecture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A36B3C-2C32-4204-857C-736A801AFE01}"/>
              </a:ext>
            </a:extLst>
          </p:cNvPr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sagorsarker/bangla-bert-base  +  Bidirectional LSTM  →  Novel Hybrid for Bangla Sentiment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4485D6-C4F8-48E3-8B3B-8F789A0F304F}"/>
              </a:ext>
            </a:extLst>
          </p:cNvPr>
          <p:cNvSpPr/>
          <p:nvPr/>
        </p:nvSpPr>
        <p:spPr>
          <a:xfrm>
            <a:off x="160020" y="1298448"/>
            <a:ext cx="1691640" cy="126187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480CD5-CF7F-4D6F-9DF3-00DB2348B535}"/>
              </a:ext>
            </a:extLst>
          </p:cNvPr>
          <p:cNvSpPr/>
          <p:nvPr/>
        </p:nvSpPr>
        <p:spPr>
          <a:xfrm>
            <a:off x="233172" y="1353312"/>
            <a:ext cx="154533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 Text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65DDB7-6884-41E3-B117-E9B2101603E7}"/>
              </a:ext>
            </a:extLst>
          </p:cNvPr>
          <p:cNvSpPr/>
          <p:nvPr/>
        </p:nvSpPr>
        <p:spPr>
          <a:xfrm>
            <a:off x="205740" y="199339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 media post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F8493B-F7F1-49D5-BC26-7C9F33602EEC}"/>
              </a:ext>
            </a:extLst>
          </p:cNvPr>
          <p:cNvSpPr/>
          <p:nvPr/>
        </p:nvSpPr>
        <p:spPr>
          <a:xfrm>
            <a:off x="1851660" y="1737360"/>
            <a:ext cx="137160" cy="38404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9DD5E02-4176-4F56-969B-C35E75A9B05B}"/>
              </a:ext>
            </a:extLst>
          </p:cNvPr>
          <p:cNvSpPr/>
          <p:nvPr/>
        </p:nvSpPr>
        <p:spPr>
          <a:xfrm>
            <a:off x="1988820" y="1298448"/>
            <a:ext cx="2011680" cy="1261872"/>
          </a:xfrm>
          <a:prstGeom prst="rect">
            <a:avLst/>
          </a:prstGeom>
          <a:solidFill>
            <a:srgbClr val="1E4D8C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EB828F-19F9-406C-9F20-4D9453B387E9}"/>
              </a:ext>
            </a:extLst>
          </p:cNvPr>
          <p:cNvSpPr/>
          <p:nvPr/>
        </p:nvSpPr>
        <p:spPr>
          <a:xfrm>
            <a:off x="2061972" y="1353312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Bangla-BERT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Tokenizer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99E1C0-2A1C-4365-B937-9918B77A5963}"/>
              </a:ext>
            </a:extLst>
          </p:cNvPr>
          <p:cNvSpPr/>
          <p:nvPr/>
        </p:nvSpPr>
        <p:spPr>
          <a:xfrm>
            <a:off x="2034540" y="19933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len=128 · WordPiece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0A55F16-46E3-41BF-AFB5-495094D87764}"/>
              </a:ext>
            </a:extLst>
          </p:cNvPr>
          <p:cNvSpPr/>
          <p:nvPr/>
        </p:nvSpPr>
        <p:spPr>
          <a:xfrm>
            <a:off x="4000500" y="1737360"/>
            <a:ext cx="137160" cy="38404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19DA4ED-F82A-4B85-A44A-9559DD46659A}"/>
              </a:ext>
            </a:extLst>
          </p:cNvPr>
          <p:cNvSpPr/>
          <p:nvPr/>
        </p:nvSpPr>
        <p:spPr>
          <a:xfrm>
            <a:off x="4137660" y="1298448"/>
            <a:ext cx="2011680" cy="1261872"/>
          </a:xfrm>
          <a:prstGeom prst="rect">
            <a:avLst/>
          </a:prstGeom>
          <a:solidFill>
            <a:srgbClr val="1E3A8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6C6CE9-98D9-48B6-93EE-EDACA86735B6}"/>
              </a:ext>
            </a:extLst>
          </p:cNvPr>
          <p:cNvSpPr/>
          <p:nvPr/>
        </p:nvSpPr>
        <p:spPr>
          <a:xfrm>
            <a:off x="4210812" y="1353312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Bangla-BERT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E938106-5F82-4EB7-9A7B-56CD6B05A34D}"/>
              </a:ext>
            </a:extLst>
          </p:cNvPr>
          <p:cNvSpPr/>
          <p:nvPr/>
        </p:nvSpPr>
        <p:spPr>
          <a:xfrm>
            <a:off x="4183380" y="19933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768-dim contextual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2614D5A-A850-449B-8BDB-B62886105567}"/>
              </a:ext>
            </a:extLst>
          </p:cNvPr>
          <p:cNvSpPr/>
          <p:nvPr/>
        </p:nvSpPr>
        <p:spPr>
          <a:xfrm>
            <a:off x="6149340" y="1737360"/>
            <a:ext cx="137160" cy="38404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D56CF00-968B-44CE-A905-92096BCFBF27}"/>
              </a:ext>
            </a:extLst>
          </p:cNvPr>
          <p:cNvSpPr/>
          <p:nvPr/>
        </p:nvSpPr>
        <p:spPr>
          <a:xfrm>
            <a:off x="6286500" y="1298448"/>
            <a:ext cx="2011680" cy="1261872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67B492-F58B-41D9-80C3-4B609F1CB237}"/>
              </a:ext>
            </a:extLst>
          </p:cNvPr>
          <p:cNvSpPr/>
          <p:nvPr/>
        </p:nvSpPr>
        <p:spPr>
          <a:xfrm>
            <a:off x="6359652" y="1353312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 layers)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3C36B4-F213-4E76-A805-EA3793C93B6D}"/>
              </a:ext>
            </a:extLst>
          </p:cNvPr>
          <p:cNvSpPr/>
          <p:nvPr/>
        </p:nvSpPr>
        <p:spPr>
          <a:xfrm>
            <a:off x="6332220" y="19933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 units · dropout=0.3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1462A9F-4406-44BA-AA91-845DBF3A6A9F}"/>
              </a:ext>
            </a:extLst>
          </p:cNvPr>
          <p:cNvSpPr/>
          <p:nvPr/>
        </p:nvSpPr>
        <p:spPr>
          <a:xfrm>
            <a:off x="8298180" y="1737360"/>
            <a:ext cx="137160" cy="38404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29BB932-77B1-4C65-8870-AC8B7EAF9788}"/>
              </a:ext>
            </a:extLst>
          </p:cNvPr>
          <p:cNvSpPr/>
          <p:nvPr/>
        </p:nvSpPr>
        <p:spPr>
          <a:xfrm>
            <a:off x="8435340" y="1298448"/>
            <a:ext cx="182880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A590D04-EDB6-4396-839C-6E7C498C399D}"/>
              </a:ext>
            </a:extLst>
          </p:cNvPr>
          <p:cNvSpPr/>
          <p:nvPr/>
        </p:nvSpPr>
        <p:spPr>
          <a:xfrm>
            <a:off x="8508492" y="1353312"/>
            <a:ext cx="168249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Global Max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Pooling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0803F94-5549-42AF-BDB2-34DE4838E485}"/>
              </a:ext>
            </a:extLst>
          </p:cNvPr>
          <p:cNvSpPr/>
          <p:nvPr/>
        </p:nvSpPr>
        <p:spPr>
          <a:xfrm>
            <a:off x="8481060" y="19933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Sequence → fixed vec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D9A2FCC-06F6-435F-9AA4-CEEDED43288A}"/>
              </a:ext>
            </a:extLst>
          </p:cNvPr>
          <p:cNvSpPr/>
          <p:nvPr/>
        </p:nvSpPr>
        <p:spPr>
          <a:xfrm>
            <a:off x="10264140" y="1737360"/>
            <a:ext cx="137160" cy="384048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D04A73F-E303-4EC0-876F-43A02C596E96}"/>
              </a:ext>
            </a:extLst>
          </p:cNvPr>
          <p:cNvSpPr/>
          <p:nvPr/>
        </p:nvSpPr>
        <p:spPr>
          <a:xfrm>
            <a:off x="10401300" y="1298448"/>
            <a:ext cx="1600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D65E1C1-D219-4558-839A-88BFAFADB93D}"/>
              </a:ext>
            </a:extLst>
          </p:cNvPr>
          <p:cNvSpPr/>
          <p:nvPr/>
        </p:nvSpPr>
        <p:spPr>
          <a:xfrm>
            <a:off x="10474452" y="1353312"/>
            <a:ext cx="145389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Softmax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6E090E9-B5E3-4DCB-9E75-EC913944F04D}"/>
              </a:ext>
            </a:extLst>
          </p:cNvPr>
          <p:cNvSpPr/>
          <p:nvPr/>
        </p:nvSpPr>
        <p:spPr>
          <a:xfrm>
            <a:off x="10447020" y="1993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3-class output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98F621F-F18E-4B4A-A976-A8E99D900077}"/>
              </a:ext>
            </a:extLst>
          </p:cNvPr>
          <p:cNvSpPr/>
          <p:nvPr/>
        </p:nvSpPr>
        <p:spPr>
          <a:xfrm>
            <a:off x="274320" y="2743200"/>
            <a:ext cx="5623560" cy="3913632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8903E65-9919-48DB-962D-88E35D59B3FB}"/>
              </a:ext>
            </a:extLst>
          </p:cNvPr>
          <p:cNvSpPr/>
          <p:nvPr/>
        </p:nvSpPr>
        <p:spPr>
          <a:xfrm>
            <a:off x="502920" y="28163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Configuration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4B714FB-860E-4993-A934-E9E3AACC27DA}"/>
              </a:ext>
            </a:extLst>
          </p:cNvPr>
          <p:cNvSpPr/>
          <p:nvPr/>
        </p:nvSpPr>
        <p:spPr>
          <a:xfrm>
            <a:off x="457200" y="3246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 Model: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BF52620-0588-4419-BFE8-6E66F6AD47EC}"/>
              </a:ext>
            </a:extLst>
          </p:cNvPr>
          <p:cNvSpPr/>
          <p:nvPr/>
        </p:nvSpPr>
        <p:spPr>
          <a:xfrm>
            <a:off x="2542032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sagorsarker/bangla-bert-base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F74E416-F0B0-4842-9821-546272081BCE}"/>
              </a:ext>
            </a:extLst>
          </p:cNvPr>
          <p:cNvSpPr/>
          <p:nvPr/>
        </p:nvSpPr>
        <p:spPr>
          <a:xfrm>
            <a:off x="457200" y="3703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 LR: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B8A5635-D904-456D-A252-A97B59B71CC1}"/>
              </a:ext>
            </a:extLst>
          </p:cNvPr>
          <p:cNvSpPr/>
          <p:nvPr/>
        </p:nvSpPr>
        <p:spPr>
          <a:xfrm>
            <a:off x="2542032" y="3703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2e-5 (with weight decay 0.01)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3B9962F-D157-4FB1-817F-481F0C947D9D}"/>
              </a:ext>
            </a:extLst>
          </p:cNvPr>
          <p:cNvSpPr/>
          <p:nvPr/>
        </p:nvSpPr>
        <p:spPr>
          <a:xfrm>
            <a:off x="457200" y="4160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LR: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6BB7D97-7E69-4F98-B98A-69121BBF74F6}"/>
              </a:ext>
            </a:extLst>
          </p:cNvPr>
          <p:cNvSpPr/>
          <p:nvPr/>
        </p:nvSpPr>
        <p:spPr>
          <a:xfrm>
            <a:off x="2542032" y="4160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1e-3 (with weight decay 0.01)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2AE4C75-D059-449D-A597-035079BF9C7F}"/>
              </a:ext>
            </a:extLst>
          </p:cNvPr>
          <p:cNvSpPr/>
          <p:nvPr/>
        </p:nvSpPr>
        <p:spPr>
          <a:xfrm>
            <a:off x="45720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Hidden: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D13EA1C-D200-44CC-B20B-007A4A8DAA35}"/>
              </a:ext>
            </a:extLst>
          </p:cNvPr>
          <p:cNvSpPr/>
          <p:nvPr/>
        </p:nvSpPr>
        <p:spPr>
          <a:xfrm>
            <a:off x="2542032" y="4617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 units · 2 layers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7FA0368-94ED-4810-A34C-68E751F94DC8}"/>
              </a:ext>
            </a:extLst>
          </p:cNvPr>
          <p:cNvSpPr/>
          <p:nvPr/>
        </p:nvSpPr>
        <p:spPr>
          <a:xfrm>
            <a:off x="457200" y="5074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Dropout: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A859185-964C-4281-8B7D-92465757BFC9}"/>
              </a:ext>
            </a:extLst>
          </p:cNvPr>
          <p:cNvSpPr/>
          <p:nvPr/>
        </p:nvSpPr>
        <p:spPr>
          <a:xfrm>
            <a:off x="2542032" y="5074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691BABF-85EE-468B-8AFA-B2FF10820AAC}"/>
              </a:ext>
            </a:extLst>
          </p:cNvPr>
          <p:cNvSpPr/>
          <p:nvPr/>
        </p:nvSpPr>
        <p:spPr>
          <a:xfrm>
            <a:off x="457200" y="5532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Optimizer</a:t>
            </a: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490D64B-47A4-45C7-A068-FDBA8AB75195}"/>
              </a:ext>
            </a:extLst>
          </p:cNvPr>
          <p:cNvSpPr/>
          <p:nvPr/>
        </p:nvSpPr>
        <p:spPr>
          <a:xfrm>
            <a:off x="2542032" y="5532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AdamW + Linear Warmup Scheduler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CC85F83-F71D-434B-AA6B-F3FC74AAE935}"/>
              </a:ext>
            </a:extLst>
          </p:cNvPr>
          <p:cNvSpPr/>
          <p:nvPr/>
        </p:nvSpPr>
        <p:spPr>
          <a:xfrm>
            <a:off x="457200" y="5989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</a:t>
            </a: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E1F961F-0F6E-4AA7-85B9-41C65BF8954C}"/>
              </a:ext>
            </a:extLst>
          </p:cNvPr>
          <p:cNvSpPr/>
          <p:nvPr/>
        </p:nvSpPr>
        <p:spPr>
          <a:xfrm>
            <a:off x="2542032" y="5989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CrossEntropyLoss (class-weighted)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DE47A65-9251-4F45-82F3-A5F1160C8A4E}"/>
              </a:ext>
            </a:extLst>
          </p:cNvPr>
          <p:cNvSpPr/>
          <p:nvPr/>
        </p:nvSpPr>
        <p:spPr>
          <a:xfrm>
            <a:off x="436711" y="6286331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Seq Len: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6E689D0-1C6E-4EAF-8302-1A2DEE3B2BCF}"/>
              </a:ext>
            </a:extLst>
          </p:cNvPr>
          <p:cNvSpPr/>
          <p:nvPr/>
        </p:nvSpPr>
        <p:spPr>
          <a:xfrm>
            <a:off x="2542032" y="63230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 tokens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555CF93-DFEB-4496-ACC7-49355FC14367}"/>
              </a:ext>
            </a:extLst>
          </p:cNvPr>
          <p:cNvSpPr/>
          <p:nvPr/>
        </p:nvSpPr>
        <p:spPr>
          <a:xfrm>
            <a:off x="6172200" y="2743200"/>
            <a:ext cx="5715000" cy="3913632"/>
          </a:xfrm>
          <a:prstGeom prst="rect">
            <a:avLst/>
          </a:prstGeom>
          <a:solidFill>
            <a:srgbClr val="1A2535"/>
          </a:solidFill>
          <a:ln w="1270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96D99D9D-1B18-4E45-8AD2-BA3D83309C2F}"/>
              </a:ext>
            </a:extLst>
          </p:cNvPr>
          <p:cNvSpPr/>
          <p:nvPr/>
        </p:nvSpPr>
        <p:spPr>
          <a:xfrm>
            <a:off x="6400800" y="28163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This Hybrid?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CD90C0A-A89C-4770-904C-6AE546B87DBB}"/>
              </a:ext>
            </a:extLst>
          </p:cNvPr>
          <p:cNvSpPr/>
          <p:nvPr/>
        </p:nvSpPr>
        <p:spPr>
          <a:xfrm>
            <a:off x="6400800" y="324612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BERT Embeddings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5A140FA-FC1C-4363-98C3-C647651158C0}"/>
              </a:ext>
            </a:extLst>
          </p:cNvPr>
          <p:cNvSpPr/>
          <p:nvPr/>
        </p:nvSpPr>
        <p:spPr>
          <a:xfrm>
            <a:off x="6400800" y="35387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Pre-trained on large Bangla corpus. Captures morphology, context, and subword nuances that word-level models miss.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96E054F7-1730-42F8-A9B7-0AE910045F92}"/>
              </a:ext>
            </a:extLst>
          </p:cNvPr>
          <p:cNvSpPr/>
          <p:nvPr/>
        </p:nvSpPr>
        <p:spPr>
          <a:xfrm>
            <a:off x="6400800" y="412394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BiLSTM on Top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C531BE4-07A8-4D5F-9EF9-D6B0A248BC71}"/>
              </a:ext>
            </a:extLst>
          </p:cNvPr>
          <p:cNvSpPr/>
          <p:nvPr/>
        </p:nvSpPr>
        <p:spPr>
          <a:xfrm>
            <a:off x="6400800" y="44165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Sequential modeling over BERT's output captures temporal patterns and ordering in the sentiment expression.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80B5DEE-CE50-451D-953F-04E212FB1898}"/>
              </a:ext>
            </a:extLst>
          </p:cNvPr>
          <p:cNvSpPr/>
          <p:nvPr/>
        </p:nvSpPr>
        <p:spPr>
          <a:xfrm>
            <a:off x="6400800" y="500176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Differential LR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73FB9DB-E7BD-4246-B2CB-C7E845AC198F}"/>
              </a:ext>
            </a:extLst>
          </p:cNvPr>
          <p:cNvSpPr/>
          <p:nvPr/>
        </p:nvSpPr>
        <p:spPr>
          <a:xfrm>
            <a:off x="6400800" y="529437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 parameters fine-tuned at 2e-5 (conservative) to preserve pre-trained knowledge; BiLSTM at 1e-3 (aggressive).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544E1E4-E4C8-4674-A07D-9FE05CCA9D08}"/>
              </a:ext>
            </a:extLst>
          </p:cNvPr>
          <p:cNvSpPr/>
          <p:nvPr/>
        </p:nvSpPr>
        <p:spPr>
          <a:xfrm>
            <a:off x="6400800" y="587959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MCC Early Stopping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BA4C46B8-0B14-4A09-ABFB-1796D8D8327D}"/>
              </a:ext>
            </a:extLst>
          </p:cNvPr>
          <p:cNvSpPr/>
          <p:nvPr/>
        </p:nvSpPr>
        <p:spPr>
          <a:xfrm>
            <a:off x="6400800" y="6172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monitored by Matthews Correlation Coefficient — more robust to class imbalance than accuracy alone.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59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389" y="-10489"/>
            <a:ext cx="12330855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3388" y="-18956"/>
            <a:ext cx="201168" cy="7772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1960" y="37259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Results: Training Curves &amp; Convergence of LSTM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304800" y="3584448"/>
            <a:ext cx="11612880" cy="2788920"/>
          </a:xfrm>
          <a:prstGeom prst="rect">
            <a:avLst/>
          </a:prstGeom>
          <a:solidFill>
            <a:srgbClr val="1A2535"/>
          </a:solidFill>
          <a:ln w="1270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33400" y="3657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Observations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3400" y="40873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Rapid Convergence: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33400" y="43616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accuracy jumped from 85.93% → 92.78% in just 2 epochs, showing the LSTM learns Bangla patterns quickly.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39840" y="40873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Stable Validation: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339840" y="43616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accuracy plateaued around 93–94% from Epoch 3, indicating the model generalises well without overfitting.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3400" y="51389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Early Stopping at Epoch 9: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33400" y="541324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Configured with patience=3 on validation loss. Training halted at Epoch 9 when no further improvement was seen.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39840" y="51389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Consistent Loss Decline: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339840" y="541324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loss dropped sharply from 0.4612 → 0.1123 (75.7% reduction), while validation loss settled near 0.11.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B30B53-82FC-4F25-8250-6B5CE4871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1" y="799733"/>
            <a:ext cx="6619240" cy="275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 : Classification Results of LSTM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92.62%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897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897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Epochs Trained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6675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0848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Report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2487168"/>
            <a:ext cx="15087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4871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83664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62656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41648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20640" y="2487168"/>
            <a:ext cx="100584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487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472" y="287121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8712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Negative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883664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962656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2656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041648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41648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20640" y="28712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8712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971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7472" y="3255264"/>
            <a:ext cx="1508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25526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Neutral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83664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83664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962656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62656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41648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41648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120640" y="32552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2552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461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47472" y="3639312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63931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883664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83664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962656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62656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041648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41648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120640" y="363931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639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47472" y="4023360"/>
            <a:ext cx="15087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883664" y="4023360"/>
            <a:ext cx="10515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83664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962656" y="4023360"/>
            <a:ext cx="10515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62656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041648" y="4023360"/>
            <a:ext cx="10515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41648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120640" y="4023360"/>
            <a:ext cx="100584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023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47472" y="440740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407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Avg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883664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83664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62656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62656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041648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41648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120640" y="440740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0640" y="4407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274320" y="5047488"/>
            <a:ext cx="11612880" cy="1572768"/>
          </a:xfrm>
          <a:prstGeom prst="rect">
            <a:avLst/>
          </a:prstGeom>
          <a:solidFill>
            <a:srgbClr val="1A2535"/>
          </a:solidFill>
          <a:ln w="1270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8"/>
          <p:cNvSpPr/>
          <p:nvPr/>
        </p:nvSpPr>
        <p:spPr>
          <a:xfrm>
            <a:off x="502920" y="5120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02920" y="5130795"/>
            <a:ext cx="11064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LSTM baseline achieves 92.62% test accuracy and 0.92 Macro F1. The model performs best on Negative and Positive classes (F1=0.93 each). The Neutral class slightly lower (F1=0.92) due to limited samples and ambiguous text. Confusion matrix shows minimal off-diagonal errors (&lt; 8% misclassification rate). This establishes a strong sequential baseline for comparison.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090F11F-27D5-425A-AAD3-65091B63A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30" y="1999228"/>
            <a:ext cx="3469590" cy="292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Results: Training Curves &amp; Convergence of </a:t>
            </a:r>
            <a:r>
              <a:rPr lang="en-US" sz="26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74320" y="3840480"/>
            <a:ext cx="11612880" cy="278892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02920" y="39136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Observations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2920" y="4343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Slower Start: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46177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 train accuracy started at 80.42% (vs LSTM's 85.93%), as bidirectional processing requires more epochs to stabilise.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09360" y="4343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Strong Final Performance: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309360" y="46177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Reached 94.33% train accuracy at Epoch 10, slightly lower final val acc (94.31%) suggesting balanced fit.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2920" y="5394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Early Stopping at Epoch 10: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920" y="56692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halted at Epoch 10; validation loss was minimised around Epoch 7 (0.1095), the best checkpoint.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09360" y="5394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Loss Behaviour: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309360" y="56692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train and validation loss converge smoothly. No significant divergence observed — model did not overfit.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789920" y="6537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27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90DD058-3AC3-4DCD-98EA-92F050147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257" y="823237"/>
            <a:ext cx="6852126" cy="285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 : Classification Results of </a:t>
            </a:r>
            <a:r>
              <a:rPr lang="en-US" sz="26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92.25%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897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897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Epochs Trained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6675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0848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Report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2487168"/>
            <a:ext cx="15087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4871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83664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62656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41648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20640" y="2487168"/>
            <a:ext cx="100584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487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472" y="287121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8712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Negative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883664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962656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2656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041648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41648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20640" y="28712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8712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971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7472" y="3255264"/>
            <a:ext cx="1508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25526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Neutral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83664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83664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962656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62656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41648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41648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120640" y="32552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2552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461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47472" y="3639312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63931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883664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83664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962656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62656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041648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41648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120640" y="363931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639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47472" y="4023360"/>
            <a:ext cx="15087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883664" y="4023360"/>
            <a:ext cx="10515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83664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962656" y="4023360"/>
            <a:ext cx="10515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62656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041648" y="4023360"/>
            <a:ext cx="105156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41648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120640" y="4023360"/>
            <a:ext cx="1005840" cy="384048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023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47472" y="440740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407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Avg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883664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83664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62656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62656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041648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41648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120640" y="440740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0640" y="4407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274320" y="5047488"/>
            <a:ext cx="11612880" cy="1572768"/>
          </a:xfrm>
          <a:prstGeom prst="rect">
            <a:avLst/>
          </a:prstGeom>
          <a:solidFill>
            <a:srgbClr val="1A2535"/>
          </a:solidFill>
          <a:ln w="1270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8"/>
          <p:cNvSpPr/>
          <p:nvPr/>
        </p:nvSpPr>
        <p:spPr>
          <a:xfrm>
            <a:off x="502920" y="5120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02920" y="5486400"/>
            <a:ext cx="11064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 achieves 92.25% accuracy — marginally lower than LSTM (92.62%). This is notable: the bidirectional model captures richer context but the small vocabulary (818 tokens) and word-level embeddings may limit the advantage. Negative class precision is highest (0.95), while Neutral recall (0.91) is slightly better than LSTM's Neutral recall (0.90). Both models perform comparably — BERT+BiLSTM breaks the ceiling.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26D2F97-8FE1-4610-92A0-FC4433F3F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34" y="2055409"/>
            <a:ext cx="3412596" cy="287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(Cont.): Training Curves &amp; Convergence of Hybrid Model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74320" y="3840480"/>
            <a:ext cx="11612880" cy="2788920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2920" y="39136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Observations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2920" y="4343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Full 15 Epochs: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46177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Unlike LSTM/BiLSTM, BERT+BiLSTM trained the full 15 epochs, slowly and steadily improving with BERT fine-tuning.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09360" y="4343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Best Val at Epoch 13: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309360" y="46177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validation accuracy of 94.86% at Epoch 13 — the highest among all three models.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2920" y="5394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BERT Instability: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920" y="56692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accuracy oscillates slightly (93.26%–94.18%) in mid-epochs due to differential learning rates during BERT fine-tuning.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09360" y="5394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◆  Validation Loss: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309360" y="56692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 loss fluctuates between 0.115–0.130 — typical of BERT fine-tuning; MCC-based early stopping prevents overfitting.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8E3E6E2-619C-49E3-963C-A4B0113C6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467" y="882621"/>
            <a:ext cx="6902026" cy="285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 : Classification Results of Hybrid Model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93.00%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00C2A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 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89720" y="914400"/>
            <a:ext cx="274320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8972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Epochs Trained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6675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0848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Report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2487168"/>
            <a:ext cx="15087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4871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83664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62656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41648" y="2487168"/>
            <a:ext cx="105156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4871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20640" y="2487168"/>
            <a:ext cx="1005840" cy="384048"/>
          </a:xfrm>
          <a:prstGeom prst="rect">
            <a:avLst/>
          </a:prstGeom>
          <a:solidFill>
            <a:srgbClr val="1E4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487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472" y="287121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8712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Negative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883664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962656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2656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041648" y="287121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41648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20640" y="28712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8712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971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7472" y="3255264"/>
            <a:ext cx="1508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25526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Neutral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83664" y="3255264"/>
            <a:ext cx="105156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83664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0.99 ★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962656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62656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0.89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41648" y="3255264"/>
            <a:ext cx="10515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41648" y="3255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120640" y="32552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2552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461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47472" y="3639312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63931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883664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83664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962656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62656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041648" y="3639312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41648" y="363931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120640" y="363931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639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47472" y="4023360"/>
            <a:ext cx="1508760" cy="384048"/>
          </a:xfrm>
          <a:prstGeom prst="rect">
            <a:avLst/>
          </a:prstGeom>
          <a:solidFill>
            <a:srgbClr val="F0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883664" y="4023360"/>
            <a:ext cx="1051560" cy="384048"/>
          </a:xfrm>
          <a:prstGeom prst="rect">
            <a:avLst/>
          </a:prstGeom>
          <a:solidFill>
            <a:srgbClr val="F0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83664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962656" y="4023360"/>
            <a:ext cx="1051560" cy="384048"/>
          </a:xfrm>
          <a:prstGeom prst="rect">
            <a:avLst/>
          </a:prstGeom>
          <a:solidFill>
            <a:srgbClr val="F0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62656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041648" y="4023360"/>
            <a:ext cx="1051560" cy="384048"/>
          </a:xfrm>
          <a:prstGeom prst="rect">
            <a:avLst/>
          </a:prstGeom>
          <a:solidFill>
            <a:srgbClr val="F0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41648" y="40233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120640" y="4023360"/>
            <a:ext cx="1005840" cy="384048"/>
          </a:xfrm>
          <a:prstGeom prst="rect">
            <a:avLst/>
          </a:prstGeom>
          <a:solidFill>
            <a:srgbClr val="F0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023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47472" y="440740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407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Avg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883664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83664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62656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62656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041648" y="440740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41648" y="4407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120640" y="440740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0640" y="4407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274320" y="5047488"/>
            <a:ext cx="11612880" cy="1572768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8"/>
          <p:cNvSpPr/>
          <p:nvPr/>
        </p:nvSpPr>
        <p:spPr>
          <a:xfrm>
            <a:off x="502920" y="5120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02920" y="5486400"/>
            <a:ext cx="11064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BERT+BiLSTM achieves 93.00% test accuracy — the best of all three models. Most striking is Neutral class precision of 0.99 (★), near-perfect discrimination of ambiguous opinions. BERT's subword tokenization handles code-mixed and rare Bangla tokens that word-level models miss entirely. Macro F1 of 0.93 (vs 0.92 for LSTM/BiLSTM) confirms consistent improvement across all three sentiment classes.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6DB1D68-7659-4977-AC75-C29242CD3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544" y="2136640"/>
            <a:ext cx="3363151" cy="283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(Cont.): Comparative Analysis of All Models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36320" y="826770"/>
            <a:ext cx="2926080" cy="438912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320" y="82677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80688" y="826770"/>
            <a:ext cx="2194560" cy="438912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0688" y="82677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3536" y="826770"/>
            <a:ext cx="2194560" cy="438912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8761" y="817245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06384" y="826770"/>
            <a:ext cx="2651760" cy="438912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6384" y="82677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BERT+BiLSTM (Ours)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36320" y="1246632"/>
            <a:ext cx="2926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9472" y="12466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Accuracy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80688" y="12466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3840" y="12466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94.47%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93536" y="12466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6688" y="12466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94.33%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406384" y="12466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9536" y="12466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94.18%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36320" y="170383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9472" y="17038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Accuracy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80688" y="17038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3840" y="17038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94.24%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461" y="167335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6688" y="17038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94.31%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406384" y="17038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9536" y="17038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94.86% ★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36320" y="2161032"/>
            <a:ext cx="2926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9472" y="21610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Accuracy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980688" y="21610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3840" y="21610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92.62%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93536" y="21610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6688" y="21610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92.25%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06384" y="21610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79536" y="21610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93.00% ★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36320" y="261823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9472" y="26182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 (Macro)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980688" y="26182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3840" y="26182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93536" y="26182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6688" y="26182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406384" y="26182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79536" y="26182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 ★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36320" y="3075432"/>
            <a:ext cx="2926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9472" y="30754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 (Macro)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980688" y="30754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53840" y="30754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193536" y="30754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6688" y="30754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406384" y="30754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79536" y="30754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36320" y="353263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9472" y="35326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(Macro)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980688" y="35326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53840" y="35326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193536" y="35326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6688" y="35326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406384" y="35326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79536" y="35326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 ★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036320" y="3989832"/>
            <a:ext cx="2926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9472" y="39898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(Weighted)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980688" y="39898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53840" y="39898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193536" y="39898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66688" y="39898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406384" y="39898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79536" y="39898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036320" y="444703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09472" y="44470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Neg Precision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3980688" y="44470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53840" y="44470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6193536" y="44470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66688" y="44470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8406384" y="44470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79536" y="44470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036320" y="4904232"/>
            <a:ext cx="2926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09472" y="49042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Neutral Precision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980688" y="49042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53840" y="49042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193536" y="49042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66688" y="49042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0.90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406384" y="49042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79536" y="49042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0.99 ★★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036320" y="536143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09472" y="53614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 Recall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980688" y="53614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53840" y="53614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193536" y="53614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66688" y="53614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8406384" y="53614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79536" y="53614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036320" y="5818632"/>
            <a:ext cx="2926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09472" y="58186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Epochs Trained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3980688" y="58186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53840" y="58186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6193536" y="5818632"/>
            <a:ext cx="2194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66688" y="58186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8406384" y="58186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79536" y="58186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1036320" y="627583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09472" y="627583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3980688" y="62758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053840" y="62758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~100K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6193536" y="627583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66688" y="627583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~120K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8406384" y="6275832"/>
            <a:ext cx="265176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479536" y="627583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~110M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 : Comparative Analysis Visual Performance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897880" cy="2834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914400"/>
            <a:ext cx="5577840" cy="28346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794760"/>
            <a:ext cx="5303520" cy="2834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852160" y="3794760"/>
            <a:ext cx="6035040" cy="283464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6035040" y="388620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🏆  BERT+BiLSTM Wins , Why?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035040" y="43708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327648" y="4370832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Contextual subword embeddings from Bangla-BERT understand morphologically complex words that word-level tokenizers split incorrectly.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035040" y="490118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327648" y="490118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Fine-tuned BERT representations encode Bangla-specific grammar patterns, making the model more robust to code-mixing and informal spelling.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035040" y="543153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327648" y="5431536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Neutral class achieves 0.99 precision - BERT correctly identifies ambiguous text that LSTM/BiLSTM misclassify as Positive or Negative.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035040" y="59618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27648" y="5961888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Differential learning rates (BERT: 2e-5, BiLSTM: 1e-3) allow domain adaptation while preserving pre-trained language knowledge.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>
            <a:extLst>
              <a:ext uri="{FF2B5EF4-FFF2-40B4-BE49-F238E27FC236}">
                <a16:creationId xmlns:a16="http://schemas.microsoft.com/office/drawing/2014/main" id="{FFD5FD7C-2AA2-4B21-B2CE-A2A26739E545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07" name="Shape 1">
            <a:extLst>
              <a:ext uri="{FF2B5EF4-FFF2-40B4-BE49-F238E27FC236}">
                <a16:creationId xmlns:a16="http://schemas.microsoft.com/office/drawing/2014/main" id="{AF961A4C-4721-4C94-ADFF-58A1F4BAB9F7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8" name="Text 2">
            <a:extLst>
              <a:ext uri="{FF2B5EF4-FFF2-40B4-BE49-F238E27FC236}">
                <a16:creationId xmlns:a16="http://schemas.microsoft.com/office/drawing/2014/main" id="{46EAE9E9-3034-4617-BC79-20C6F1EC0E97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 : Error Analysis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3">
            <a:extLst>
              <a:ext uri="{FF2B5EF4-FFF2-40B4-BE49-F238E27FC236}">
                <a16:creationId xmlns:a16="http://schemas.microsoft.com/office/drawing/2014/main" id="{416B9CEB-6515-466E-8BF5-024E0F070045}"/>
              </a:ext>
            </a:extLst>
          </p:cNvPr>
          <p:cNvSpPr/>
          <p:nvPr/>
        </p:nvSpPr>
        <p:spPr>
          <a:xfrm>
            <a:off x="274320" y="941832"/>
            <a:ext cx="11612880" cy="1298448"/>
          </a:xfrm>
          <a:prstGeom prst="rect">
            <a:avLst/>
          </a:prstGeom>
          <a:solidFill>
            <a:srgbClr val="1A2535"/>
          </a:solidFill>
          <a:ln w="1905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Shape 4">
            <a:extLst>
              <a:ext uri="{FF2B5EF4-FFF2-40B4-BE49-F238E27FC236}">
                <a16:creationId xmlns:a16="http://schemas.microsoft.com/office/drawing/2014/main" id="{E8C79725-8DCB-4226-BA12-9C581F0D6FF8}"/>
              </a:ext>
            </a:extLst>
          </p:cNvPr>
          <p:cNvSpPr/>
          <p:nvPr/>
        </p:nvSpPr>
        <p:spPr>
          <a:xfrm>
            <a:off x="274320" y="914400"/>
            <a:ext cx="164592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1" name="Text 5">
            <a:extLst>
              <a:ext uri="{FF2B5EF4-FFF2-40B4-BE49-F238E27FC236}">
                <a16:creationId xmlns:a16="http://schemas.microsoft.com/office/drawing/2014/main" id="{EDC90B99-F62E-4554-93CD-59A88A1B6C71}"/>
              </a:ext>
            </a:extLst>
          </p:cNvPr>
          <p:cNvSpPr/>
          <p:nvPr/>
        </p:nvSpPr>
        <p:spPr>
          <a:xfrm>
            <a:off x="548640" y="9692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Sarcasm Failure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6">
            <a:extLst>
              <a:ext uri="{FF2B5EF4-FFF2-40B4-BE49-F238E27FC236}">
                <a16:creationId xmlns:a16="http://schemas.microsoft.com/office/drawing/2014/main" id="{BDD025D2-EA03-4341-98E8-27F81E6EFC5B}"/>
              </a:ext>
            </a:extLst>
          </p:cNvPr>
          <p:cNvSpPr/>
          <p:nvPr/>
        </p:nvSpPr>
        <p:spPr>
          <a:xfrm>
            <a:off x="548640" y="135178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Label: Negative → Predicted: Positive (all models)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 7">
            <a:extLst>
              <a:ext uri="{FF2B5EF4-FFF2-40B4-BE49-F238E27FC236}">
                <a16:creationId xmlns:a16="http://schemas.microsoft.com/office/drawing/2014/main" id="{0DCBC58E-0434-4EE6-8917-4A9AB6FEE784}"/>
              </a:ext>
            </a:extLst>
          </p:cNvPr>
          <p:cNvSpPr/>
          <p:nvPr/>
        </p:nvSpPr>
        <p:spPr>
          <a:xfrm>
            <a:off x="548640" y="1110827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u="sng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Example: "অসাধারণ সেবা দিয়েছে — ৩ ঘণ্টা অপেক্ষা করিয়ে।"</a:t>
            </a:r>
            <a:endParaRPr lang="en-US" sz="1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 8">
            <a:extLst>
              <a:ext uri="{FF2B5EF4-FFF2-40B4-BE49-F238E27FC236}">
                <a16:creationId xmlns:a16="http://schemas.microsoft.com/office/drawing/2014/main" id="{68D517BF-F58F-4ED1-AED2-9043F7408674}"/>
              </a:ext>
            </a:extLst>
          </p:cNvPr>
          <p:cNvSpPr/>
          <p:nvPr/>
        </p:nvSpPr>
        <p:spPr>
          <a:xfrm>
            <a:off x="548640" y="18105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Cause: Surface words like 'অসাধারণ' (wonderful) trigger Positive prediction. Without world knowledge, the sarcasm is undetectable.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Shape 9">
            <a:extLst>
              <a:ext uri="{FF2B5EF4-FFF2-40B4-BE49-F238E27FC236}">
                <a16:creationId xmlns:a16="http://schemas.microsoft.com/office/drawing/2014/main" id="{50C45CC9-FC46-48F6-B93D-1214B6B5F635}"/>
              </a:ext>
            </a:extLst>
          </p:cNvPr>
          <p:cNvSpPr/>
          <p:nvPr/>
        </p:nvSpPr>
        <p:spPr>
          <a:xfrm>
            <a:off x="274320" y="2377440"/>
            <a:ext cx="11612880" cy="1298448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6" name="Shape 10">
            <a:extLst>
              <a:ext uri="{FF2B5EF4-FFF2-40B4-BE49-F238E27FC236}">
                <a16:creationId xmlns:a16="http://schemas.microsoft.com/office/drawing/2014/main" id="{93D69A13-E871-4B01-B01C-BB14424D1258}"/>
              </a:ext>
            </a:extLst>
          </p:cNvPr>
          <p:cNvSpPr/>
          <p:nvPr/>
        </p:nvSpPr>
        <p:spPr>
          <a:xfrm>
            <a:off x="274320" y="2377440"/>
            <a:ext cx="16459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7" name="Text 11">
            <a:extLst>
              <a:ext uri="{FF2B5EF4-FFF2-40B4-BE49-F238E27FC236}">
                <a16:creationId xmlns:a16="http://schemas.microsoft.com/office/drawing/2014/main" id="{E3F95869-792C-49B4-9122-CC9E6B595877}"/>
              </a:ext>
            </a:extLst>
          </p:cNvPr>
          <p:cNvSpPr/>
          <p:nvPr/>
        </p:nvSpPr>
        <p:spPr>
          <a:xfrm>
            <a:off x="548640" y="24323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Code-Mixed Confusion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 12">
            <a:extLst>
              <a:ext uri="{FF2B5EF4-FFF2-40B4-BE49-F238E27FC236}">
                <a16:creationId xmlns:a16="http://schemas.microsoft.com/office/drawing/2014/main" id="{7CB72DEB-DF41-44A4-8DDF-42AEC8CD3115}"/>
              </a:ext>
            </a:extLst>
          </p:cNvPr>
          <p:cNvSpPr/>
          <p:nvPr/>
        </p:nvSpPr>
        <p:spPr>
          <a:xfrm>
            <a:off x="548640" y="28148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Label: Mixed → Classified as Negative → Predicted: Negative (all 3 models)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157323F0-3E54-4774-84C0-47A13AB75FC6}"/>
              </a:ext>
            </a:extLst>
          </p:cNvPr>
          <p:cNvSpPr/>
          <p:nvPr/>
        </p:nvSpPr>
        <p:spPr>
          <a:xfrm>
            <a:off x="548640" y="2679192"/>
            <a:ext cx="10972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Example: "product ta really good kintu delivery system টা terrible"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 14">
            <a:extLst>
              <a:ext uri="{FF2B5EF4-FFF2-40B4-BE49-F238E27FC236}">
                <a16:creationId xmlns:a16="http://schemas.microsoft.com/office/drawing/2014/main" id="{8908CD47-DEFA-467B-9662-0FD0F188D54E}"/>
              </a:ext>
            </a:extLst>
          </p:cNvPr>
          <p:cNvSpPr/>
          <p:nvPr/>
        </p:nvSpPr>
        <p:spPr>
          <a:xfrm>
            <a:off x="548640" y="32735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Cause: The mixed Bangla-English sentence contains conflicting sentiment. Models collapse to the dominant negative signal.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hape 15">
            <a:extLst>
              <a:ext uri="{FF2B5EF4-FFF2-40B4-BE49-F238E27FC236}">
                <a16:creationId xmlns:a16="http://schemas.microsoft.com/office/drawing/2014/main" id="{210BBF01-C932-410C-9424-C6A670B5FC8B}"/>
              </a:ext>
            </a:extLst>
          </p:cNvPr>
          <p:cNvSpPr/>
          <p:nvPr/>
        </p:nvSpPr>
        <p:spPr>
          <a:xfrm>
            <a:off x="274320" y="3840480"/>
            <a:ext cx="11612880" cy="1298448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2" name="Shape 16">
            <a:extLst>
              <a:ext uri="{FF2B5EF4-FFF2-40B4-BE49-F238E27FC236}">
                <a16:creationId xmlns:a16="http://schemas.microsoft.com/office/drawing/2014/main" id="{7E66C234-4065-466C-ACA6-0C3B1E6B1950}"/>
              </a:ext>
            </a:extLst>
          </p:cNvPr>
          <p:cNvSpPr/>
          <p:nvPr/>
        </p:nvSpPr>
        <p:spPr>
          <a:xfrm>
            <a:off x="274320" y="3840480"/>
            <a:ext cx="164592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3" name="Text 17">
            <a:extLst>
              <a:ext uri="{FF2B5EF4-FFF2-40B4-BE49-F238E27FC236}">
                <a16:creationId xmlns:a16="http://schemas.microsoft.com/office/drawing/2014/main" id="{9CAE9AB3-7DE7-492E-AE5A-96397ADCF9B6}"/>
              </a:ext>
            </a:extLst>
          </p:cNvPr>
          <p:cNvSpPr/>
          <p:nvPr/>
        </p:nvSpPr>
        <p:spPr>
          <a:xfrm>
            <a:off x="548640" y="3895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Neutral Misclassification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 18">
            <a:extLst>
              <a:ext uri="{FF2B5EF4-FFF2-40B4-BE49-F238E27FC236}">
                <a16:creationId xmlns:a16="http://schemas.microsoft.com/office/drawing/2014/main" id="{DDB3F7F2-D26C-427D-B508-3F4975C2C319}"/>
              </a:ext>
            </a:extLst>
          </p:cNvPr>
          <p:cNvSpPr/>
          <p:nvPr/>
        </p:nvSpPr>
        <p:spPr>
          <a:xfrm>
            <a:off x="548640" y="42778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Label: Neutral → Predicted: LSTM: Negative  BiLSTM: Negative  BERT: Neutral ✓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 19">
            <a:extLst>
              <a:ext uri="{FF2B5EF4-FFF2-40B4-BE49-F238E27FC236}">
                <a16:creationId xmlns:a16="http://schemas.microsoft.com/office/drawing/2014/main" id="{7F1F2251-A3A0-4F5E-9B97-5DDA2ABA3D1F}"/>
              </a:ext>
            </a:extLst>
          </p:cNvPr>
          <p:cNvSpPr/>
          <p:nvPr/>
        </p:nvSpPr>
        <p:spPr>
          <a:xfrm>
            <a:off x="548640" y="41056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Example: "আজকে আমি বাজারে গেলাম।"  (I went to the market today.)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 20">
            <a:extLst>
              <a:ext uri="{FF2B5EF4-FFF2-40B4-BE49-F238E27FC236}">
                <a16:creationId xmlns:a16="http://schemas.microsoft.com/office/drawing/2014/main" id="{63C9DDB7-321B-417C-B4D5-01EAA0699158}"/>
              </a:ext>
            </a:extLst>
          </p:cNvPr>
          <p:cNvSpPr/>
          <p:nvPr/>
        </p:nvSpPr>
        <p:spPr>
          <a:xfrm>
            <a:off x="548640" y="4736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Cause: Factual sentences without opinion are hard for LSTM/BiLSTM. BERT's contextual understanding correctly identifies the absence of sentiment.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Experimented Results (Cont.): Benchmarking Against Prior Literature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64008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8755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Year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987552"/>
            <a:ext cx="210312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9875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Authors / Work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27248" y="987552"/>
            <a:ext cx="210312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9875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48656" y="987552"/>
            <a:ext cx="192024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9875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87184" y="987552"/>
            <a:ext cx="118872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87184" y="9875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94192" y="987552"/>
            <a:ext cx="82296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98755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35440" y="987552"/>
            <a:ext cx="2468880" cy="402336"/>
          </a:xfrm>
          <a:prstGeom prst="rect">
            <a:avLst/>
          </a:prstGeom>
          <a:solidFill>
            <a:srgbClr val="1E4D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9875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Work's Gap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7472" y="1389888"/>
            <a:ext cx="64008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389888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2018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5840" y="1389888"/>
            <a:ext cx="21031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1389888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 &amp; Gambäck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27248" y="1389888"/>
            <a:ext cx="21031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1389888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 + n-gram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48656" y="1389888"/>
            <a:ext cx="19202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94376" y="138988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~5K FB comments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87184" y="1389888"/>
            <a:ext cx="11887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2904" y="1389888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74.2%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94192" y="1389888"/>
            <a:ext cx="82296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1389888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0.71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5440" y="1389888"/>
            <a:ext cx="246888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138988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↑18.8pp 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47472" y="2194560"/>
            <a:ext cx="640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219456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05840" y="2194560"/>
            <a:ext cx="2103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219456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Alam et al.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127248" y="2194560"/>
            <a:ext cx="2103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72968" y="219456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CNN + fastText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248656" y="2194560"/>
            <a:ext cx="1920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94376" y="219456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 tweets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187184" y="2194560"/>
            <a:ext cx="1188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32904" y="219456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81.0%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394192" y="2194560"/>
            <a:ext cx="822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2194560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0.79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235440" y="2194560"/>
            <a:ext cx="24688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219456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↑12.0pp 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47472" y="2999232"/>
            <a:ext cx="64008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2999232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2021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05840" y="2999232"/>
            <a:ext cx="21031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299923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Islam et al.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127248" y="2999232"/>
            <a:ext cx="21031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72968" y="299923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BiLSTM+Attention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248656" y="2999232"/>
            <a:ext cx="19202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94376" y="299923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Movie reviews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187184" y="2999232"/>
            <a:ext cx="11887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32904" y="2999232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83.4%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394192" y="2999232"/>
            <a:ext cx="82296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39912" y="2999232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0.83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235440" y="2999232"/>
            <a:ext cx="246888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81160" y="299923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↑9.6pp 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47472" y="3803904"/>
            <a:ext cx="640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3803904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005840" y="3803904"/>
            <a:ext cx="2103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380390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Hossain et al.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127248" y="3803904"/>
            <a:ext cx="2103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72968" y="380390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mBERT (multilingual)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248656" y="3803904"/>
            <a:ext cx="1920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94376" y="3803904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Mixed Bangla-EN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187184" y="3796089"/>
            <a:ext cx="1188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32904" y="3803904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87.0%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8394192" y="3803904"/>
            <a:ext cx="822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39912" y="3803904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0.86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9235440" y="3803904"/>
            <a:ext cx="24688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281160" y="38039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↑6.0pp 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47472" y="4608576"/>
            <a:ext cx="64008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3192" y="4608576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2023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005840" y="4608576"/>
            <a:ext cx="21031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51560" y="4608576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Rahman et al.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127248" y="4608576"/>
            <a:ext cx="21031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72968" y="4608576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BanglaBERT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248656" y="4608576"/>
            <a:ext cx="192024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94376" y="4608576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News corpus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187184" y="4608576"/>
            <a:ext cx="118872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32904" y="4608576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89.6%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394192" y="4608576"/>
            <a:ext cx="82296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39912" y="4608576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0.89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9235440" y="4608576"/>
            <a:ext cx="246888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81160" y="460857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↑3.4pp 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347472" y="5413248"/>
            <a:ext cx="64008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3192" y="5413248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2026</a:t>
            </a:r>
          </a:p>
          <a:p>
            <a:pPr marL="0" indent="0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005840" y="5413248"/>
            <a:ext cx="210312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1560" y="5413248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Work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127248" y="5413248"/>
            <a:ext cx="210312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72968" y="5413248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Bangla-BERT+BiLSTM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248656" y="5413248"/>
            <a:ext cx="19202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94376" y="54132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 media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7187184" y="5413248"/>
            <a:ext cx="118872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32904" y="5413248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93.0% ★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394192" y="5413248"/>
            <a:ext cx="82296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439912" y="5413248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0.93 ★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9235440" y="5413248"/>
            <a:ext cx="246888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281160" y="541324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published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636422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00C2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  This work achieves the highest published accuracy on Bangla social media sentiment , 3.4 percentage points above the previous best (BanglaBERT on news domain).</a:t>
            </a:r>
            <a:endParaRPr lang="en-US" sz="10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704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>
            <a:extLst>
              <a:ext uri="{FF2B5EF4-FFF2-40B4-BE49-F238E27FC236}">
                <a16:creationId xmlns:a16="http://schemas.microsoft.com/office/drawing/2014/main" id="{98B7E1A8-274F-47AF-9FF3-DECB66CE5934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07" name="Shape 1">
            <a:extLst>
              <a:ext uri="{FF2B5EF4-FFF2-40B4-BE49-F238E27FC236}">
                <a16:creationId xmlns:a16="http://schemas.microsoft.com/office/drawing/2014/main" id="{534ECE7E-1C89-4AFA-8DD0-C2F934B93392}"/>
              </a:ext>
            </a:extLst>
          </p:cNvPr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8" name="Text 2">
            <a:extLst>
              <a:ext uri="{FF2B5EF4-FFF2-40B4-BE49-F238E27FC236}">
                <a16:creationId xmlns:a16="http://schemas.microsoft.com/office/drawing/2014/main" id="{8BFCB1EA-DD2E-4678-B17D-6A87B662DB10}"/>
              </a:ext>
            </a:extLst>
          </p:cNvPr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&amp; Future Work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3">
            <a:extLst>
              <a:ext uri="{FF2B5EF4-FFF2-40B4-BE49-F238E27FC236}">
                <a16:creationId xmlns:a16="http://schemas.microsoft.com/office/drawing/2014/main" id="{51BB88B4-ED35-4B05-87BD-2F0E8AA7F1D7}"/>
              </a:ext>
            </a:extLst>
          </p:cNvPr>
          <p:cNvSpPr/>
          <p:nvPr/>
        </p:nvSpPr>
        <p:spPr>
          <a:xfrm>
            <a:off x="274320" y="914400"/>
            <a:ext cx="5669280" cy="521208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0" name="Text 4">
            <a:extLst>
              <a:ext uri="{FF2B5EF4-FFF2-40B4-BE49-F238E27FC236}">
                <a16:creationId xmlns:a16="http://schemas.microsoft.com/office/drawing/2014/main" id="{6B9E49F6-E758-498E-AFAF-E5A20760E6C0}"/>
              </a:ext>
            </a:extLst>
          </p:cNvPr>
          <p:cNvSpPr/>
          <p:nvPr/>
        </p:nvSpPr>
        <p:spPr>
          <a:xfrm>
            <a:off x="502920" y="10058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Conclusions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Shape 5">
            <a:extLst>
              <a:ext uri="{FF2B5EF4-FFF2-40B4-BE49-F238E27FC236}">
                <a16:creationId xmlns:a16="http://schemas.microsoft.com/office/drawing/2014/main" id="{875290D2-02AB-4F82-A0EB-D3B62EF16291}"/>
              </a:ext>
            </a:extLst>
          </p:cNvPr>
          <p:cNvSpPr/>
          <p:nvPr/>
        </p:nvSpPr>
        <p:spPr>
          <a:xfrm>
            <a:off x="502920" y="153619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2" name="Text 6">
            <a:extLst>
              <a:ext uri="{FF2B5EF4-FFF2-40B4-BE49-F238E27FC236}">
                <a16:creationId xmlns:a16="http://schemas.microsoft.com/office/drawing/2014/main" id="{0BE2FA3E-43D9-481D-8103-E24C1200F987}"/>
              </a:ext>
            </a:extLst>
          </p:cNvPr>
          <p:cNvSpPr/>
          <p:nvPr/>
        </p:nvSpPr>
        <p:spPr>
          <a:xfrm>
            <a:off x="502920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 7">
            <a:extLst>
              <a:ext uri="{FF2B5EF4-FFF2-40B4-BE49-F238E27FC236}">
                <a16:creationId xmlns:a16="http://schemas.microsoft.com/office/drawing/2014/main" id="{1BBC9784-267F-40BD-AFD1-64A0A8CA55CC}"/>
              </a:ext>
            </a:extLst>
          </p:cNvPr>
          <p:cNvSpPr/>
          <p:nvPr/>
        </p:nvSpPr>
        <p:spPr>
          <a:xfrm>
            <a:off x="932688" y="1508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Bangla-BERT+BiLSTM achieves 93.0% test accuracy and 0.93 Macro F1 , best among all three models and best published on Bangla social media sentiment.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Shape 8">
            <a:extLst>
              <a:ext uri="{FF2B5EF4-FFF2-40B4-BE49-F238E27FC236}">
                <a16:creationId xmlns:a16="http://schemas.microsoft.com/office/drawing/2014/main" id="{C8E43CD1-A8A0-4F74-A6DA-B0AC1DAFE0C4}"/>
              </a:ext>
            </a:extLst>
          </p:cNvPr>
          <p:cNvSpPr/>
          <p:nvPr/>
        </p:nvSpPr>
        <p:spPr>
          <a:xfrm>
            <a:off x="502920" y="2340864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5" name="Text 9">
            <a:extLst>
              <a:ext uri="{FF2B5EF4-FFF2-40B4-BE49-F238E27FC236}">
                <a16:creationId xmlns:a16="http://schemas.microsoft.com/office/drawing/2014/main" id="{925B8505-1B83-4999-A575-CD062CCF4771}"/>
              </a:ext>
            </a:extLst>
          </p:cNvPr>
          <p:cNvSpPr/>
          <p:nvPr/>
        </p:nvSpPr>
        <p:spPr>
          <a:xfrm>
            <a:off x="502920" y="2340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 10">
            <a:extLst>
              <a:ext uri="{FF2B5EF4-FFF2-40B4-BE49-F238E27FC236}">
                <a16:creationId xmlns:a16="http://schemas.microsoft.com/office/drawing/2014/main" id="{7C9C0295-E06E-413B-9B56-FABE2A5DC843}"/>
              </a:ext>
            </a:extLst>
          </p:cNvPr>
          <p:cNvSpPr/>
          <p:nvPr/>
        </p:nvSpPr>
        <p:spPr>
          <a:xfrm>
            <a:off x="932688" y="231343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BERT's contextual embeddings provide a decisive advantage for morphologically complex and code-mixed Bangla text over word-level baselines.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Shape 11">
            <a:extLst>
              <a:ext uri="{FF2B5EF4-FFF2-40B4-BE49-F238E27FC236}">
                <a16:creationId xmlns:a16="http://schemas.microsoft.com/office/drawing/2014/main" id="{1ACB90A9-FF88-4BAC-89C7-E02197D85408}"/>
              </a:ext>
            </a:extLst>
          </p:cNvPr>
          <p:cNvSpPr/>
          <p:nvPr/>
        </p:nvSpPr>
        <p:spPr>
          <a:xfrm>
            <a:off x="502920" y="3145536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8" name="Text 12">
            <a:extLst>
              <a:ext uri="{FF2B5EF4-FFF2-40B4-BE49-F238E27FC236}">
                <a16:creationId xmlns:a16="http://schemas.microsoft.com/office/drawing/2014/main" id="{EF0A5581-A423-40C9-9939-EB4BAF50D5F0}"/>
              </a:ext>
            </a:extLst>
          </p:cNvPr>
          <p:cNvSpPr/>
          <p:nvPr/>
        </p:nvSpPr>
        <p:spPr>
          <a:xfrm>
            <a:off x="50292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78000928-7ED7-4E4E-B97F-A43AE375AE15}"/>
              </a:ext>
            </a:extLst>
          </p:cNvPr>
          <p:cNvSpPr/>
          <p:nvPr/>
        </p:nvSpPr>
        <p:spPr>
          <a:xfrm>
            <a:off x="932688" y="3118104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(92.62%) and BiLSTM (92.25%) establish strong sequential baselines, with LSTM slightly outperforming BiLSTM on this small vocabulary dataset.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Shape 14">
            <a:extLst>
              <a:ext uri="{FF2B5EF4-FFF2-40B4-BE49-F238E27FC236}">
                <a16:creationId xmlns:a16="http://schemas.microsoft.com/office/drawing/2014/main" id="{F3A39DF7-4287-4F62-9BCE-1497DC920AF8}"/>
              </a:ext>
            </a:extLst>
          </p:cNvPr>
          <p:cNvSpPr/>
          <p:nvPr/>
        </p:nvSpPr>
        <p:spPr>
          <a:xfrm>
            <a:off x="502920" y="3950208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A14CF250-E96E-4B68-88E1-C99849C97E1E}"/>
              </a:ext>
            </a:extLst>
          </p:cNvPr>
          <p:cNvSpPr/>
          <p:nvPr/>
        </p:nvSpPr>
        <p:spPr>
          <a:xfrm>
            <a:off x="502920" y="3950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 16">
            <a:extLst>
              <a:ext uri="{FF2B5EF4-FFF2-40B4-BE49-F238E27FC236}">
                <a16:creationId xmlns:a16="http://schemas.microsoft.com/office/drawing/2014/main" id="{7A6E6232-64F2-4AE0-AE95-1F6EE5485E60}"/>
              </a:ext>
            </a:extLst>
          </p:cNvPr>
          <p:cNvSpPr/>
          <p:nvPr/>
        </p:nvSpPr>
        <p:spPr>
          <a:xfrm>
            <a:off x="932688" y="3922776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0.99 Neutral precision of BERT+BiLSTM demonstrates that pre-trained language models can reliably identify the absence of opinion in Bangla 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Shape 17">
            <a:extLst>
              <a:ext uri="{FF2B5EF4-FFF2-40B4-BE49-F238E27FC236}">
                <a16:creationId xmlns:a16="http://schemas.microsoft.com/office/drawing/2014/main" id="{6E58C6FF-6C25-4F44-815F-859EFC231619}"/>
              </a:ext>
            </a:extLst>
          </p:cNvPr>
          <p:cNvSpPr/>
          <p:nvPr/>
        </p:nvSpPr>
        <p:spPr>
          <a:xfrm>
            <a:off x="502920" y="47548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4" name="Text 18">
            <a:extLst>
              <a:ext uri="{FF2B5EF4-FFF2-40B4-BE49-F238E27FC236}">
                <a16:creationId xmlns:a16="http://schemas.microsoft.com/office/drawing/2014/main" id="{F1B7E660-DA7C-4261-8C26-0B875C51D8C6}"/>
              </a:ext>
            </a:extLst>
          </p:cNvPr>
          <p:cNvSpPr/>
          <p:nvPr/>
        </p:nvSpPr>
        <p:spPr>
          <a:xfrm>
            <a:off x="50292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 19">
            <a:extLst>
              <a:ext uri="{FF2B5EF4-FFF2-40B4-BE49-F238E27FC236}">
                <a16:creationId xmlns:a16="http://schemas.microsoft.com/office/drawing/2014/main" id="{714C2F23-0933-40B6-A049-FC684EFBE46C}"/>
              </a:ext>
            </a:extLst>
          </p:cNvPr>
          <p:cNvSpPr/>
          <p:nvPr/>
        </p:nvSpPr>
        <p:spPr>
          <a:xfrm>
            <a:off x="932688" y="472744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MCC-based early stopping proves more robust than accuracy-based stopping under class imbalance - a methodological contribution for future work.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Shape 20">
            <a:extLst>
              <a:ext uri="{FF2B5EF4-FFF2-40B4-BE49-F238E27FC236}">
                <a16:creationId xmlns:a16="http://schemas.microsoft.com/office/drawing/2014/main" id="{01800733-2BAB-42E9-824D-588AB203773C}"/>
              </a:ext>
            </a:extLst>
          </p:cNvPr>
          <p:cNvSpPr/>
          <p:nvPr/>
        </p:nvSpPr>
        <p:spPr>
          <a:xfrm>
            <a:off x="6263640" y="914400"/>
            <a:ext cx="5623560" cy="5212080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7" name="Text 21">
            <a:extLst>
              <a:ext uri="{FF2B5EF4-FFF2-40B4-BE49-F238E27FC236}">
                <a16:creationId xmlns:a16="http://schemas.microsoft.com/office/drawing/2014/main" id="{6340534F-7E5F-4759-A34A-EFA10D7F14FF}"/>
              </a:ext>
            </a:extLst>
          </p:cNvPr>
          <p:cNvSpPr/>
          <p:nvPr/>
        </p:nvSpPr>
        <p:spPr>
          <a:xfrm>
            <a:off x="6492240" y="10058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🚀  Future Directions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Shape 22">
            <a:extLst>
              <a:ext uri="{FF2B5EF4-FFF2-40B4-BE49-F238E27FC236}">
                <a16:creationId xmlns:a16="http://schemas.microsoft.com/office/drawing/2014/main" id="{FCC7123C-28ED-4F99-9DEE-A9BD3D371DFC}"/>
              </a:ext>
            </a:extLst>
          </p:cNvPr>
          <p:cNvSpPr/>
          <p:nvPr/>
        </p:nvSpPr>
        <p:spPr>
          <a:xfrm>
            <a:off x="6492240" y="1508760"/>
            <a:ext cx="5166360" cy="749808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9" name="Text 23">
            <a:extLst>
              <a:ext uri="{FF2B5EF4-FFF2-40B4-BE49-F238E27FC236}">
                <a16:creationId xmlns:a16="http://schemas.microsoft.com/office/drawing/2014/main" id="{9656E5CE-8359-4247-BB74-0C544FD90D89}"/>
              </a:ext>
            </a:extLst>
          </p:cNvPr>
          <p:cNvSpPr/>
          <p:nvPr/>
        </p:nvSpPr>
        <p:spPr>
          <a:xfrm>
            <a:off x="6601968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Native Bangla Corpus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24">
            <a:extLst>
              <a:ext uri="{FF2B5EF4-FFF2-40B4-BE49-F238E27FC236}">
                <a16:creationId xmlns:a16="http://schemas.microsoft.com/office/drawing/2014/main" id="{DF5E3A97-DF2F-47C3-AA3A-C0378CCCA5F1}"/>
              </a:ext>
            </a:extLst>
          </p:cNvPr>
          <p:cNvSpPr/>
          <p:nvPr/>
        </p:nvSpPr>
        <p:spPr>
          <a:xfrm>
            <a:off x="6601968" y="18105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 and annotate 50K+ native Bangla posts without relying on machine translation to improve model robustness.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Shape 25">
            <a:extLst>
              <a:ext uri="{FF2B5EF4-FFF2-40B4-BE49-F238E27FC236}">
                <a16:creationId xmlns:a16="http://schemas.microsoft.com/office/drawing/2014/main" id="{4152832B-A43C-4F3C-84BB-73A25CC1103B}"/>
              </a:ext>
            </a:extLst>
          </p:cNvPr>
          <p:cNvSpPr/>
          <p:nvPr/>
        </p:nvSpPr>
        <p:spPr>
          <a:xfrm>
            <a:off x="6492240" y="2404872"/>
            <a:ext cx="5166360" cy="749808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2" name="Text 26">
            <a:extLst>
              <a:ext uri="{FF2B5EF4-FFF2-40B4-BE49-F238E27FC236}">
                <a16:creationId xmlns:a16="http://schemas.microsoft.com/office/drawing/2014/main" id="{550B99F7-D989-42C8-975B-46B6AB76C642}"/>
              </a:ext>
            </a:extLst>
          </p:cNvPr>
          <p:cNvSpPr/>
          <p:nvPr/>
        </p:nvSpPr>
        <p:spPr>
          <a:xfrm>
            <a:off x="6601968" y="2450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Aspect-Level Sentiment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27">
            <a:extLst>
              <a:ext uri="{FF2B5EF4-FFF2-40B4-BE49-F238E27FC236}">
                <a16:creationId xmlns:a16="http://schemas.microsoft.com/office/drawing/2014/main" id="{1B13A753-9105-4E6D-8CFF-EB1EA227C6E6}"/>
              </a:ext>
            </a:extLst>
          </p:cNvPr>
          <p:cNvSpPr/>
          <p:nvPr/>
        </p:nvSpPr>
        <p:spPr>
          <a:xfrm>
            <a:off x="6601968" y="27066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 from document-level to aspect-level analysis -</a:t>
            </a:r>
            <a:r>
              <a:rPr lang="en-US" sz="1050" dirty="0" err="1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iidentify</a:t>
            </a: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which entity or feature a sentiment is directed at.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Shape 28">
            <a:extLst>
              <a:ext uri="{FF2B5EF4-FFF2-40B4-BE49-F238E27FC236}">
                <a16:creationId xmlns:a16="http://schemas.microsoft.com/office/drawing/2014/main" id="{A311A40E-BCE0-46C9-8D4F-F8EE70084205}"/>
              </a:ext>
            </a:extLst>
          </p:cNvPr>
          <p:cNvSpPr/>
          <p:nvPr/>
        </p:nvSpPr>
        <p:spPr>
          <a:xfrm>
            <a:off x="6492240" y="3300984"/>
            <a:ext cx="5166360" cy="749808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5" name="Text 29">
            <a:extLst>
              <a:ext uri="{FF2B5EF4-FFF2-40B4-BE49-F238E27FC236}">
                <a16:creationId xmlns:a16="http://schemas.microsoft.com/office/drawing/2014/main" id="{FD0CBB6F-E2EA-44E4-82A8-97B62FFA68CB}"/>
              </a:ext>
            </a:extLst>
          </p:cNvPr>
          <p:cNvSpPr/>
          <p:nvPr/>
        </p:nvSpPr>
        <p:spPr>
          <a:xfrm>
            <a:off x="6601968" y="33467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Sarcasm Detection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 30">
            <a:extLst>
              <a:ext uri="{FF2B5EF4-FFF2-40B4-BE49-F238E27FC236}">
                <a16:creationId xmlns:a16="http://schemas.microsoft.com/office/drawing/2014/main" id="{8A46D5C7-66D4-46D4-A1BE-4488391A14E2}"/>
              </a:ext>
            </a:extLst>
          </p:cNvPr>
          <p:cNvSpPr/>
          <p:nvPr/>
        </p:nvSpPr>
        <p:spPr>
          <a:xfrm>
            <a:off x="6601968" y="360273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an auxiliary sarcasm detection task as a multi-task learning component to handle ironic expressions.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Shape 31">
            <a:extLst>
              <a:ext uri="{FF2B5EF4-FFF2-40B4-BE49-F238E27FC236}">
                <a16:creationId xmlns:a16="http://schemas.microsoft.com/office/drawing/2014/main" id="{2F736B28-EB23-4B3F-846A-3871D9BCCFB2}"/>
              </a:ext>
            </a:extLst>
          </p:cNvPr>
          <p:cNvSpPr/>
          <p:nvPr/>
        </p:nvSpPr>
        <p:spPr>
          <a:xfrm>
            <a:off x="6492240" y="4197096"/>
            <a:ext cx="5166360" cy="749808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8" name="Text 32">
            <a:extLst>
              <a:ext uri="{FF2B5EF4-FFF2-40B4-BE49-F238E27FC236}">
                <a16:creationId xmlns:a16="http://schemas.microsoft.com/office/drawing/2014/main" id="{483CAF85-2412-4852-AB65-39CA7241F286}"/>
              </a:ext>
            </a:extLst>
          </p:cNvPr>
          <p:cNvSpPr/>
          <p:nvPr/>
        </p:nvSpPr>
        <p:spPr>
          <a:xfrm>
            <a:off x="6601968" y="42428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Real-Time API Deployment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 33">
            <a:extLst>
              <a:ext uri="{FF2B5EF4-FFF2-40B4-BE49-F238E27FC236}">
                <a16:creationId xmlns:a16="http://schemas.microsoft.com/office/drawing/2014/main" id="{A1277CE3-63AF-4601-8E7A-C803FC72C131}"/>
              </a:ext>
            </a:extLst>
          </p:cNvPr>
          <p:cNvSpPr/>
          <p:nvPr/>
        </p:nvSpPr>
        <p:spPr>
          <a:xfrm>
            <a:off x="6601968" y="44988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 the BERT+BiLSTM model as a REST API for real-time social media monitoring and brand intelligence.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Shape 34">
            <a:extLst>
              <a:ext uri="{FF2B5EF4-FFF2-40B4-BE49-F238E27FC236}">
                <a16:creationId xmlns:a16="http://schemas.microsoft.com/office/drawing/2014/main" id="{7872661E-6E60-41C4-A3D8-B08373D45DB0}"/>
              </a:ext>
            </a:extLst>
          </p:cNvPr>
          <p:cNvSpPr/>
          <p:nvPr/>
        </p:nvSpPr>
        <p:spPr>
          <a:xfrm>
            <a:off x="6492240" y="5093208"/>
            <a:ext cx="5166360" cy="749808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1" name="Text 35">
            <a:extLst>
              <a:ext uri="{FF2B5EF4-FFF2-40B4-BE49-F238E27FC236}">
                <a16:creationId xmlns:a16="http://schemas.microsoft.com/office/drawing/2014/main" id="{A633F149-F1D4-4C40-8E16-602406B1446C}"/>
              </a:ext>
            </a:extLst>
          </p:cNvPr>
          <p:cNvSpPr/>
          <p:nvPr/>
        </p:nvSpPr>
        <p:spPr>
          <a:xfrm>
            <a:off x="6601968" y="5138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Multilingual Extension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 36">
            <a:extLst>
              <a:ext uri="{FF2B5EF4-FFF2-40B4-BE49-F238E27FC236}">
                <a16:creationId xmlns:a16="http://schemas.microsoft.com/office/drawing/2014/main" id="{845E23FB-5C22-4084-BD34-D503B6BF80C6}"/>
              </a:ext>
            </a:extLst>
          </p:cNvPr>
          <p:cNvSpPr/>
          <p:nvPr/>
        </p:nvSpPr>
        <p:spPr>
          <a:xfrm>
            <a:off x="6601968" y="53949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 the framework to other South Asian low-resource languages (Sylheti, Chittagonian) using transfer learning.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104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 &amp; Research Constraints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4630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332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Machine-Translated Training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1399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dataset was built primarily via machine translation from English sentiment datasets and manually verified. Native Bangla-authored data may contain different linguistic patterns, idioms, and cultural context not captured here.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11612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21408"/>
            <a:ext cx="14630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9456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Small Vocabulary (818 tokens)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" y="2560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word-level LSTM/BiLSTM models operate on a vocabulary of only 818 unique tokens after preprocessing — significantly smaller than typical NLP datasets. This limits the models' ability to handle rare or unseen words during inference.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282696"/>
            <a:ext cx="11612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82696"/>
            <a:ext cx="146304" cy="10058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558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No Aspect-Level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372160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work classifies overall document-level sentiment. A single post may contain mixed sentiments about different aspects (e.g., 'food great, service terrible'). Aspect-level sentiment analysis would provide more actionable insights.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443984"/>
            <a:ext cx="11612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443984"/>
            <a:ext cx="14630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51713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Binary Sarcasm Blindspot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" y="48828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Sarcasm and irony detection require cultural and world knowledge that pure deep learning models cannot acquire from text alone. These cases remain a systematic failure mode across all three architectures.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5605272"/>
            <a:ext cx="11612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5605272"/>
            <a:ext cx="14630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567842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Computational Cost of BERT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" y="604418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BERT+BiLSTM model requires GPU hardware and significantly more training time (15 epochs, ~110M parameters) compared to LSTM/BiLSTM (~100K parameters). Deployment in resource-constrained environments is challenging.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286000"/>
            <a:ext cx="7315200" cy="7315200"/>
          </a:xfrm>
          <a:prstGeom prst="ellipse">
            <a:avLst/>
          </a:prstGeom>
          <a:solidFill>
            <a:srgbClr val="1E4D8C">
              <a:alpha val="20000"/>
            </a:srgbClr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7432"/>
            <a:ext cx="4114800" cy="4114800"/>
          </a:xfrm>
          <a:prstGeom prst="ellipse">
            <a:avLst/>
          </a:prstGeom>
          <a:solidFill>
            <a:srgbClr val="00C2A8">
              <a:alpha val="2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70960" y="2103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18" name="Shape 16"/>
          <p:cNvSpPr/>
          <p:nvPr/>
        </p:nvSpPr>
        <p:spPr>
          <a:xfrm>
            <a:off x="822960" y="4187952"/>
            <a:ext cx="7498080" cy="18288"/>
          </a:xfrm>
          <a:prstGeom prst="rect">
            <a:avLst/>
          </a:prstGeom>
          <a:solidFill>
            <a:srgbClr val="243454"/>
          </a:solidFill>
          <a:ln w="12700">
            <a:solidFill>
              <a:srgbClr val="243454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011680"/>
            <a:ext cx="2286000" cy="228600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43891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3413</Words>
  <Application>Microsoft Office PowerPoint</Application>
  <PresentationFormat>Widescreen</PresentationFormat>
  <Paragraphs>643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Kalpurush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in Bangla Text — Thesis Defense</dc:title>
  <dc:subject>PptxGenJS Presentation</dc:subject>
  <dc:creator>Pragga Barua, KM Adnan Absar, Ahmed Ullah</dc:creator>
  <cp:lastModifiedBy>N1BroX .</cp:lastModifiedBy>
  <cp:revision>25</cp:revision>
  <dcterms:created xsi:type="dcterms:W3CDTF">2026-04-24T16:49:24Z</dcterms:created>
  <dcterms:modified xsi:type="dcterms:W3CDTF">2026-04-26T05:22:36Z</dcterms:modified>
</cp:coreProperties>
</file>